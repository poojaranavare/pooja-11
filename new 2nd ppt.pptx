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CA59"/>
    <a:srgbClr val="339933"/>
    <a:srgbClr val="FFA751"/>
    <a:srgbClr val="07DF1C"/>
    <a:srgbClr val="39B0D4"/>
    <a:srgbClr val="9BBB59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1048F-48E4-4FBC-87AD-E1AD7EE6C72E}" v="142" dt="2025-10-15T10:05:46.492"/>
    <p1510:client id="{E1552213-CEFE-55BB-38D9-1A35443F61B0}" v="1" dt="2025-10-15T05:55:19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ABF852-3B2A-426C-88AF-89B3BEC01AE3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1B792C-BE78-4702-8342-94E363E981A4}">
      <dgm:prSet phldrT="[Text]"/>
      <dgm:spPr>
        <a:solidFill>
          <a:schemeClr val="accent1"/>
        </a:solidFill>
      </dgm:spPr>
      <dgm:t>
        <a:bodyPr/>
        <a:lstStyle/>
        <a:p>
          <a:r>
            <a:rPr lang="en-IN">
              <a:ln/>
            </a:rPr>
            <a:t>Reduces manual site inspections </a:t>
          </a:r>
        </a:p>
      </dgm:t>
    </dgm:pt>
    <dgm:pt modelId="{092218FA-88D0-4679-9044-C5D91012B00D}" type="parTrans" cxnId="{9C50A5ED-5CE3-4EA2-95CC-9117590A9EF2}">
      <dgm:prSet/>
      <dgm:spPr/>
      <dgm:t>
        <a:bodyPr/>
        <a:lstStyle/>
        <a:p>
          <a:endParaRPr lang="en-IN"/>
        </a:p>
      </dgm:t>
    </dgm:pt>
    <dgm:pt modelId="{B0FA83CD-6E88-4D31-BB9B-463B488499ED}" type="sibTrans" cxnId="{9C50A5ED-5CE3-4EA2-95CC-9117590A9EF2}">
      <dgm:prSet/>
      <dgm:spPr/>
      <dgm:t>
        <a:bodyPr/>
        <a:lstStyle/>
        <a:p>
          <a:endParaRPr lang="en-IN"/>
        </a:p>
      </dgm:t>
    </dgm:pt>
    <dgm:pt modelId="{6277BADE-B8E4-43D2-B292-05CCAFFAB03E}">
      <dgm:prSet phldrT="[Text]"/>
      <dgm:spPr/>
      <dgm:t>
        <a:bodyPr/>
        <a:lstStyle/>
        <a:p>
          <a:r>
            <a:rPr lang="en-IN"/>
            <a:t>Speeds up illegal mining detection</a:t>
          </a:r>
        </a:p>
      </dgm:t>
    </dgm:pt>
    <dgm:pt modelId="{70FB730F-9C0B-4330-8778-D2B7FDEEA7D2}" type="parTrans" cxnId="{AD02B5C7-8119-41E4-8EE7-C1AC092F9D5A}">
      <dgm:prSet/>
      <dgm:spPr/>
      <dgm:t>
        <a:bodyPr/>
        <a:lstStyle/>
        <a:p>
          <a:endParaRPr lang="en-IN"/>
        </a:p>
      </dgm:t>
    </dgm:pt>
    <dgm:pt modelId="{A4B4392E-BCDC-46FC-926D-930AD3987B43}" type="sibTrans" cxnId="{AD02B5C7-8119-41E4-8EE7-C1AC092F9D5A}">
      <dgm:prSet/>
      <dgm:spPr/>
      <dgm:t>
        <a:bodyPr/>
        <a:lstStyle/>
        <a:p>
          <a:endParaRPr lang="en-IN"/>
        </a:p>
      </dgm:t>
    </dgm:pt>
    <dgm:pt modelId="{452A9EDF-F8CC-444B-97BA-C5B5B3F71A3C}">
      <dgm:prSet phldrT="[Text]"/>
      <dgm:spPr/>
      <dgm:t>
        <a:bodyPr/>
        <a:lstStyle/>
        <a:p>
          <a:r>
            <a:rPr lang="en-IN"/>
            <a:t>Enhances transparency and decision efficiency</a:t>
          </a:r>
        </a:p>
      </dgm:t>
    </dgm:pt>
    <dgm:pt modelId="{21BEA178-3F92-460C-ABEE-1A6B1F1596D6}" type="parTrans" cxnId="{71463664-69CA-4E91-A6A0-6C1DF6F0DD9E}">
      <dgm:prSet/>
      <dgm:spPr/>
      <dgm:t>
        <a:bodyPr/>
        <a:lstStyle/>
        <a:p>
          <a:endParaRPr lang="en-IN"/>
        </a:p>
      </dgm:t>
    </dgm:pt>
    <dgm:pt modelId="{B495D0FB-8B1D-4393-99BB-CE6E1A1A7BF8}" type="sibTrans" cxnId="{71463664-69CA-4E91-A6A0-6C1DF6F0DD9E}">
      <dgm:prSet/>
      <dgm:spPr/>
      <dgm:t>
        <a:bodyPr/>
        <a:lstStyle/>
        <a:p>
          <a:endParaRPr lang="en-IN"/>
        </a:p>
      </dgm:t>
    </dgm:pt>
    <dgm:pt modelId="{E39C52AC-7D68-47F9-9E5D-5F13C2125291}">
      <dgm:prSet/>
      <dgm:spPr/>
      <dgm:t>
        <a:bodyPr/>
        <a:lstStyle/>
        <a:p>
          <a:r>
            <a:rPr lang="en-IN"/>
            <a:t>Improves environmental monitoring accuracy</a:t>
          </a:r>
        </a:p>
      </dgm:t>
    </dgm:pt>
    <dgm:pt modelId="{FC6BA7EB-C6C1-4DAF-A282-F6AA77F584AD}" type="parTrans" cxnId="{2928A371-9256-4E0A-94C2-757396EBC635}">
      <dgm:prSet/>
      <dgm:spPr/>
      <dgm:t>
        <a:bodyPr/>
        <a:lstStyle/>
        <a:p>
          <a:endParaRPr lang="en-IN"/>
        </a:p>
      </dgm:t>
    </dgm:pt>
    <dgm:pt modelId="{822CB751-FC1E-483A-8431-C4B72CDF1031}" type="sibTrans" cxnId="{2928A371-9256-4E0A-94C2-757396EBC635}">
      <dgm:prSet/>
      <dgm:spPr/>
      <dgm:t>
        <a:bodyPr/>
        <a:lstStyle/>
        <a:p>
          <a:endParaRPr lang="en-IN"/>
        </a:p>
      </dgm:t>
    </dgm:pt>
    <dgm:pt modelId="{EE93087D-57C4-4809-8A05-5239A8509609}" type="pres">
      <dgm:prSet presAssocID="{D0ABF852-3B2A-426C-88AF-89B3BEC01AE3}" presName="outerComposite" presStyleCnt="0">
        <dgm:presLayoutVars>
          <dgm:chMax val="5"/>
          <dgm:dir/>
          <dgm:resizeHandles val="exact"/>
        </dgm:presLayoutVars>
      </dgm:prSet>
      <dgm:spPr/>
    </dgm:pt>
    <dgm:pt modelId="{01C1AA4F-FFC7-46E8-B483-EF7D6E130A0B}" type="pres">
      <dgm:prSet presAssocID="{D0ABF852-3B2A-426C-88AF-89B3BEC01AE3}" presName="dummyMaxCanvas" presStyleCnt="0">
        <dgm:presLayoutVars/>
      </dgm:prSet>
      <dgm:spPr/>
    </dgm:pt>
    <dgm:pt modelId="{46F31C4C-A80F-474B-A289-97B39CC98626}" type="pres">
      <dgm:prSet presAssocID="{D0ABF852-3B2A-426C-88AF-89B3BEC01AE3}" presName="FourNodes_1" presStyleLbl="node1" presStyleIdx="0" presStyleCnt="4">
        <dgm:presLayoutVars>
          <dgm:bulletEnabled val="1"/>
        </dgm:presLayoutVars>
      </dgm:prSet>
      <dgm:spPr/>
    </dgm:pt>
    <dgm:pt modelId="{08C9B16D-AA63-4124-A432-C013CDBFFBB3}" type="pres">
      <dgm:prSet presAssocID="{D0ABF852-3B2A-426C-88AF-89B3BEC01AE3}" presName="FourNodes_2" presStyleLbl="node1" presStyleIdx="1" presStyleCnt="4">
        <dgm:presLayoutVars>
          <dgm:bulletEnabled val="1"/>
        </dgm:presLayoutVars>
      </dgm:prSet>
      <dgm:spPr/>
    </dgm:pt>
    <dgm:pt modelId="{CBBF2575-A735-4877-8E17-7C42BA274E17}" type="pres">
      <dgm:prSet presAssocID="{D0ABF852-3B2A-426C-88AF-89B3BEC01AE3}" presName="FourNodes_3" presStyleLbl="node1" presStyleIdx="2" presStyleCnt="4">
        <dgm:presLayoutVars>
          <dgm:bulletEnabled val="1"/>
        </dgm:presLayoutVars>
      </dgm:prSet>
      <dgm:spPr/>
    </dgm:pt>
    <dgm:pt modelId="{6E3C27EE-F826-42C9-9837-8121F004A102}" type="pres">
      <dgm:prSet presAssocID="{D0ABF852-3B2A-426C-88AF-89B3BEC01AE3}" presName="FourNodes_4" presStyleLbl="node1" presStyleIdx="3" presStyleCnt="4">
        <dgm:presLayoutVars>
          <dgm:bulletEnabled val="1"/>
        </dgm:presLayoutVars>
      </dgm:prSet>
      <dgm:spPr/>
    </dgm:pt>
    <dgm:pt modelId="{F0EB6C57-E1ED-4E6D-8488-1E0795190635}" type="pres">
      <dgm:prSet presAssocID="{D0ABF852-3B2A-426C-88AF-89B3BEC01AE3}" presName="FourConn_1-2" presStyleLbl="fgAccFollowNode1" presStyleIdx="0" presStyleCnt="3">
        <dgm:presLayoutVars>
          <dgm:bulletEnabled val="1"/>
        </dgm:presLayoutVars>
      </dgm:prSet>
      <dgm:spPr/>
    </dgm:pt>
    <dgm:pt modelId="{9A34E5B5-248B-4418-BE57-6084DE61DCC4}" type="pres">
      <dgm:prSet presAssocID="{D0ABF852-3B2A-426C-88AF-89B3BEC01AE3}" presName="FourConn_2-3" presStyleLbl="fgAccFollowNode1" presStyleIdx="1" presStyleCnt="3">
        <dgm:presLayoutVars>
          <dgm:bulletEnabled val="1"/>
        </dgm:presLayoutVars>
      </dgm:prSet>
      <dgm:spPr/>
    </dgm:pt>
    <dgm:pt modelId="{32CB3F44-E48F-46CC-8EA6-B89904EC381E}" type="pres">
      <dgm:prSet presAssocID="{D0ABF852-3B2A-426C-88AF-89B3BEC01AE3}" presName="FourConn_3-4" presStyleLbl="fgAccFollowNode1" presStyleIdx="2" presStyleCnt="3">
        <dgm:presLayoutVars>
          <dgm:bulletEnabled val="1"/>
        </dgm:presLayoutVars>
      </dgm:prSet>
      <dgm:spPr/>
    </dgm:pt>
    <dgm:pt modelId="{2C46D4C2-380D-4723-AC52-54E9BF6C1E66}" type="pres">
      <dgm:prSet presAssocID="{D0ABF852-3B2A-426C-88AF-89B3BEC01AE3}" presName="FourNodes_1_text" presStyleLbl="node1" presStyleIdx="3" presStyleCnt="4">
        <dgm:presLayoutVars>
          <dgm:bulletEnabled val="1"/>
        </dgm:presLayoutVars>
      </dgm:prSet>
      <dgm:spPr/>
    </dgm:pt>
    <dgm:pt modelId="{C040EFEB-BAEB-49FC-92D6-6CF607FE7B84}" type="pres">
      <dgm:prSet presAssocID="{D0ABF852-3B2A-426C-88AF-89B3BEC01AE3}" presName="FourNodes_2_text" presStyleLbl="node1" presStyleIdx="3" presStyleCnt="4">
        <dgm:presLayoutVars>
          <dgm:bulletEnabled val="1"/>
        </dgm:presLayoutVars>
      </dgm:prSet>
      <dgm:spPr/>
    </dgm:pt>
    <dgm:pt modelId="{93FBE03B-8AB5-4AD1-BEEE-626150BE3D5D}" type="pres">
      <dgm:prSet presAssocID="{D0ABF852-3B2A-426C-88AF-89B3BEC01AE3}" presName="FourNodes_3_text" presStyleLbl="node1" presStyleIdx="3" presStyleCnt="4">
        <dgm:presLayoutVars>
          <dgm:bulletEnabled val="1"/>
        </dgm:presLayoutVars>
      </dgm:prSet>
      <dgm:spPr/>
    </dgm:pt>
    <dgm:pt modelId="{DF1B924A-C84C-41E0-9016-F442CD150E5B}" type="pres">
      <dgm:prSet presAssocID="{D0ABF852-3B2A-426C-88AF-89B3BEC01AE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2A26F63-00C3-4080-9CA6-2C62C5FCDA56}" type="presOf" srcId="{D31B792C-BE78-4702-8342-94E363E981A4}" destId="{2C46D4C2-380D-4723-AC52-54E9BF6C1E66}" srcOrd="1" destOrd="0" presId="urn:microsoft.com/office/officeart/2005/8/layout/vProcess5"/>
    <dgm:cxn modelId="{71463664-69CA-4E91-A6A0-6C1DF6F0DD9E}" srcId="{D0ABF852-3B2A-426C-88AF-89B3BEC01AE3}" destId="{452A9EDF-F8CC-444B-97BA-C5B5B3F71A3C}" srcOrd="2" destOrd="0" parTransId="{21BEA178-3F92-460C-ABEE-1A6B1F1596D6}" sibTransId="{B495D0FB-8B1D-4393-99BB-CE6E1A1A7BF8}"/>
    <dgm:cxn modelId="{B886E467-99DC-4871-B080-EFEDA607AD45}" type="presOf" srcId="{B0FA83CD-6E88-4D31-BB9B-463B488499ED}" destId="{F0EB6C57-E1ED-4E6D-8488-1E0795190635}" srcOrd="0" destOrd="0" presId="urn:microsoft.com/office/officeart/2005/8/layout/vProcess5"/>
    <dgm:cxn modelId="{2928A371-9256-4E0A-94C2-757396EBC635}" srcId="{D0ABF852-3B2A-426C-88AF-89B3BEC01AE3}" destId="{E39C52AC-7D68-47F9-9E5D-5F13C2125291}" srcOrd="3" destOrd="0" parTransId="{FC6BA7EB-C6C1-4DAF-A282-F6AA77F584AD}" sibTransId="{822CB751-FC1E-483A-8431-C4B72CDF1031}"/>
    <dgm:cxn modelId="{0DC8D751-7E64-4C8B-8AE3-42D6C1450B09}" type="presOf" srcId="{D0ABF852-3B2A-426C-88AF-89B3BEC01AE3}" destId="{EE93087D-57C4-4809-8A05-5239A8509609}" srcOrd="0" destOrd="0" presId="urn:microsoft.com/office/officeart/2005/8/layout/vProcess5"/>
    <dgm:cxn modelId="{0A5C5E76-C389-4BAE-BAA1-D1727A983089}" type="presOf" srcId="{452A9EDF-F8CC-444B-97BA-C5B5B3F71A3C}" destId="{CBBF2575-A735-4877-8E17-7C42BA274E17}" srcOrd="0" destOrd="0" presId="urn:microsoft.com/office/officeart/2005/8/layout/vProcess5"/>
    <dgm:cxn modelId="{96EA4595-2B26-423F-8CE5-590EAA6F58C0}" type="presOf" srcId="{A4B4392E-BCDC-46FC-926D-930AD3987B43}" destId="{9A34E5B5-248B-4418-BE57-6084DE61DCC4}" srcOrd="0" destOrd="0" presId="urn:microsoft.com/office/officeart/2005/8/layout/vProcess5"/>
    <dgm:cxn modelId="{2DD2E3A6-011B-46B9-8D81-5801561CBD05}" type="presOf" srcId="{D31B792C-BE78-4702-8342-94E363E981A4}" destId="{46F31C4C-A80F-474B-A289-97B39CC98626}" srcOrd="0" destOrd="0" presId="urn:microsoft.com/office/officeart/2005/8/layout/vProcess5"/>
    <dgm:cxn modelId="{B03A5AAA-15D1-4FC3-A74A-2A71CC03D1CE}" type="presOf" srcId="{6277BADE-B8E4-43D2-B292-05CCAFFAB03E}" destId="{08C9B16D-AA63-4124-A432-C013CDBFFBB3}" srcOrd="0" destOrd="0" presId="urn:microsoft.com/office/officeart/2005/8/layout/vProcess5"/>
    <dgm:cxn modelId="{128B33AD-EEA9-4D62-B40C-46958246E471}" type="presOf" srcId="{B495D0FB-8B1D-4393-99BB-CE6E1A1A7BF8}" destId="{32CB3F44-E48F-46CC-8EA6-B89904EC381E}" srcOrd="0" destOrd="0" presId="urn:microsoft.com/office/officeart/2005/8/layout/vProcess5"/>
    <dgm:cxn modelId="{E1698DAF-65D2-4F07-985B-1F941CB9835F}" type="presOf" srcId="{452A9EDF-F8CC-444B-97BA-C5B5B3F71A3C}" destId="{93FBE03B-8AB5-4AD1-BEEE-626150BE3D5D}" srcOrd="1" destOrd="0" presId="urn:microsoft.com/office/officeart/2005/8/layout/vProcess5"/>
    <dgm:cxn modelId="{0D7FDDB8-BE80-4177-9D51-A2DF1E5D2BE7}" type="presOf" srcId="{6277BADE-B8E4-43D2-B292-05CCAFFAB03E}" destId="{C040EFEB-BAEB-49FC-92D6-6CF607FE7B84}" srcOrd="1" destOrd="0" presId="urn:microsoft.com/office/officeart/2005/8/layout/vProcess5"/>
    <dgm:cxn modelId="{AD02B5C7-8119-41E4-8EE7-C1AC092F9D5A}" srcId="{D0ABF852-3B2A-426C-88AF-89B3BEC01AE3}" destId="{6277BADE-B8E4-43D2-B292-05CCAFFAB03E}" srcOrd="1" destOrd="0" parTransId="{70FB730F-9C0B-4330-8778-D2B7FDEEA7D2}" sibTransId="{A4B4392E-BCDC-46FC-926D-930AD3987B43}"/>
    <dgm:cxn modelId="{276AA6CE-71D7-419C-8E33-3CA33646D958}" type="presOf" srcId="{E39C52AC-7D68-47F9-9E5D-5F13C2125291}" destId="{DF1B924A-C84C-41E0-9016-F442CD150E5B}" srcOrd="1" destOrd="0" presId="urn:microsoft.com/office/officeart/2005/8/layout/vProcess5"/>
    <dgm:cxn modelId="{BF7149DE-17D4-4FBC-BDF1-0DF07A9206A6}" type="presOf" srcId="{E39C52AC-7D68-47F9-9E5D-5F13C2125291}" destId="{6E3C27EE-F826-42C9-9837-8121F004A102}" srcOrd="0" destOrd="0" presId="urn:microsoft.com/office/officeart/2005/8/layout/vProcess5"/>
    <dgm:cxn modelId="{9C50A5ED-5CE3-4EA2-95CC-9117590A9EF2}" srcId="{D0ABF852-3B2A-426C-88AF-89B3BEC01AE3}" destId="{D31B792C-BE78-4702-8342-94E363E981A4}" srcOrd="0" destOrd="0" parTransId="{092218FA-88D0-4679-9044-C5D91012B00D}" sibTransId="{B0FA83CD-6E88-4D31-BB9B-463B488499ED}"/>
    <dgm:cxn modelId="{46E82AED-5699-4C36-B417-0E14F1AF4794}" type="presParOf" srcId="{EE93087D-57C4-4809-8A05-5239A8509609}" destId="{01C1AA4F-FFC7-46E8-B483-EF7D6E130A0B}" srcOrd="0" destOrd="0" presId="urn:microsoft.com/office/officeart/2005/8/layout/vProcess5"/>
    <dgm:cxn modelId="{ED06B92B-A424-450D-822A-5BE6D7616F88}" type="presParOf" srcId="{EE93087D-57C4-4809-8A05-5239A8509609}" destId="{46F31C4C-A80F-474B-A289-97B39CC98626}" srcOrd="1" destOrd="0" presId="urn:microsoft.com/office/officeart/2005/8/layout/vProcess5"/>
    <dgm:cxn modelId="{DD93D2A2-F36E-44E8-97E8-B46CEAC9EF43}" type="presParOf" srcId="{EE93087D-57C4-4809-8A05-5239A8509609}" destId="{08C9B16D-AA63-4124-A432-C013CDBFFBB3}" srcOrd="2" destOrd="0" presId="urn:microsoft.com/office/officeart/2005/8/layout/vProcess5"/>
    <dgm:cxn modelId="{3DC91406-2EB5-49ED-BF26-E8893266869C}" type="presParOf" srcId="{EE93087D-57C4-4809-8A05-5239A8509609}" destId="{CBBF2575-A735-4877-8E17-7C42BA274E17}" srcOrd="3" destOrd="0" presId="urn:microsoft.com/office/officeart/2005/8/layout/vProcess5"/>
    <dgm:cxn modelId="{8A5E7EEE-8650-4A2C-B302-7BCA888D5C93}" type="presParOf" srcId="{EE93087D-57C4-4809-8A05-5239A8509609}" destId="{6E3C27EE-F826-42C9-9837-8121F004A102}" srcOrd="4" destOrd="0" presId="urn:microsoft.com/office/officeart/2005/8/layout/vProcess5"/>
    <dgm:cxn modelId="{E214BE72-9C53-4140-9C5A-518828DB956C}" type="presParOf" srcId="{EE93087D-57C4-4809-8A05-5239A8509609}" destId="{F0EB6C57-E1ED-4E6D-8488-1E0795190635}" srcOrd="5" destOrd="0" presId="urn:microsoft.com/office/officeart/2005/8/layout/vProcess5"/>
    <dgm:cxn modelId="{8810D54D-B1BD-4D9D-AEE5-FA05A03958FD}" type="presParOf" srcId="{EE93087D-57C4-4809-8A05-5239A8509609}" destId="{9A34E5B5-248B-4418-BE57-6084DE61DCC4}" srcOrd="6" destOrd="0" presId="urn:microsoft.com/office/officeart/2005/8/layout/vProcess5"/>
    <dgm:cxn modelId="{BD3D55AD-9613-4EC2-B510-CFC70495C5C8}" type="presParOf" srcId="{EE93087D-57C4-4809-8A05-5239A8509609}" destId="{32CB3F44-E48F-46CC-8EA6-B89904EC381E}" srcOrd="7" destOrd="0" presId="urn:microsoft.com/office/officeart/2005/8/layout/vProcess5"/>
    <dgm:cxn modelId="{F0CB219B-88DF-41E6-8E97-F01B16CAE51F}" type="presParOf" srcId="{EE93087D-57C4-4809-8A05-5239A8509609}" destId="{2C46D4C2-380D-4723-AC52-54E9BF6C1E66}" srcOrd="8" destOrd="0" presId="urn:microsoft.com/office/officeart/2005/8/layout/vProcess5"/>
    <dgm:cxn modelId="{42D681F3-20EE-4AD4-A095-E2FFCD90524A}" type="presParOf" srcId="{EE93087D-57C4-4809-8A05-5239A8509609}" destId="{C040EFEB-BAEB-49FC-92D6-6CF607FE7B84}" srcOrd="9" destOrd="0" presId="urn:microsoft.com/office/officeart/2005/8/layout/vProcess5"/>
    <dgm:cxn modelId="{852C3B45-C0BE-493C-A3AA-80169356A6E3}" type="presParOf" srcId="{EE93087D-57C4-4809-8A05-5239A8509609}" destId="{93FBE03B-8AB5-4AD1-BEEE-626150BE3D5D}" srcOrd="10" destOrd="0" presId="urn:microsoft.com/office/officeart/2005/8/layout/vProcess5"/>
    <dgm:cxn modelId="{6D0F8BCB-54F2-4EF6-9EA8-4FE100D823B9}" type="presParOf" srcId="{EE93087D-57C4-4809-8A05-5239A8509609}" destId="{DF1B924A-C84C-41E0-9016-F442CD150E5B}" srcOrd="11" destOrd="0" presId="urn:microsoft.com/office/officeart/2005/8/layout/vProcess5"/>
  </dgm:cxnLst>
  <dgm:bg>
    <a:solidFill>
      <a:schemeClr val="bg1"/>
    </a:solidFill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D1A76D-8A91-4BF7-B7F8-7D5D7AB0D0F1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82BF04A-8319-45FA-AF8F-6ADE8AA17691}" type="pres">
      <dgm:prSet presAssocID="{A9D1A76D-8A91-4BF7-B7F8-7D5D7AB0D0F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</dgm:ptLst>
  <dgm:cxnLst>
    <dgm:cxn modelId="{0B11F586-BB45-42C2-8026-591244240AF0}" type="presOf" srcId="{A9D1A76D-8A91-4BF7-B7F8-7D5D7AB0D0F1}" destId="{182BF04A-8319-45FA-AF8F-6ADE8AA17691}" srcOrd="0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F8B65E-7C1E-4D20-BED5-FA259CFBF0B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45B1CC-D545-41DB-ABA8-0AE80DBA1445}" type="pres">
      <dgm:prSet presAssocID="{ACF8B65E-7C1E-4D20-BED5-FA259CFBF0B4}" presName="linearFlow" presStyleCnt="0">
        <dgm:presLayoutVars>
          <dgm:dir/>
          <dgm:resizeHandles val="exact"/>
        </dgm:presLayoutVars>
      </dgm:prSet>
      <dgm:spPr/>
    </dgm:pt>
  </dgm:ptLst>
  <dgm:cxnLst>
    <dgm:cxn modelId="{D17121A1-3873-4076-BDB6-04CD2F878E70}" type="presOf" srcId="{ACF8B65E-7C1E-4D20-BED5-FA259CFBF0B4}" destId="{6245B1CC-D545-41DB-ABA8-0AE80DBA1445}" srcOrd="0" destOrd="0" presId="urn:microsoft.com/office/officeart/2005/8/layout/vList3"/>
  </dgm:cxnLst>
  <dgm:bg>
    <a:noFill/>
  </dgm:bg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F8B65E-7C1E-4D20-BED5-FA259CFBF0B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45B1CC-D545-41DB-ABA8-0AE80DBA1445}" type="pres">
      <dgm:prSet presAssocID="{ACF8B65E-7C1E-4D20-BED5-FA259CFBF0B4}" presName="linearFlow" presStyleCnt="0">
        <dgm:presLayoutVars>
          <dgm:dir/>
          <dgm:resizeHandles val="exact"/>
        </dgm:presLayoutVars>
      </dgm:prSet>
      <dgm:spPr/>
    </dgm:pt>
  </dgm:ptLst>
  <dgm:cxnLst>
    <dgm:cxn modelId="{D17121A1-3873-4076-BDB6-04CD2F878E70}" type="presOf" srcId="{ACF8B65E-7C1E-4D20-BED5-FA259CFBF0B4}" destId="{6245B1CC-D545-41DB-ABA8-0AE80DBA1445}" srcOrd="0" destOrd="0" presId="urn:microsoft.com/office/officeart/2005/8/layout/vList3"/>
  </dgm:cxnLst>
  <dgm:bg>
    <a:noFill/>
  </dgm:bg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31C4C-A80F-474B-A289-97B39CC98626}">
      <dsp:nvSpPr>
        <dsp:cNvPr id="0" name=""/>
        <dsp:cNvSpPr/>
      </dsp:nvSpPr>
      <dsp:spPr>
        <a:xfrm>
          <a:off x="0" y="0"/>
          <a:ext cx="2477348" cy="531435"/>
        </a:xfrm>
        <a:prstGeom prst="roundRect">
          <a:avLst>
            <a:gd name="adj" fmla="val 10000"/>
          </a:avLst>
        </a:prstGeom>
        <a:solidFill>
          <a:schemeClr val="accent1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n/>
            </a:rPr>
            <a:t>Reduces manual site inspections </a:t>
          </a:r>
        </a:p>
      </dsp:txBody>
      <dsp:txXfrm>
        <a:off x="15565" y="15565"/>
        <a:ext cx="1858982" cy="500305"/>
      </dsp:txXfrm>
    </dsp:sp>
    <dsp:sp modelId="{08C9B16D-AA63-4124-A432-C013CDBFFBB3}">
      <dsp:nvSpPr>
        <dsp:cNvPr id="0" name=""/>
        <dsp:cNvSpPr/>
      </dsp:nvSpPr>
      <dsp:spPr>
        <a:xfrm>
          <a:off x="207477" y="628060"/>
          <a:ext cx="2477348" cy="53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Speeds up illegal mining detection</a:t>
          </a:r>
        </a:p>
      </dsp:txBody>
      <dsp:txXfrm>
        <a:off x="223042" y="643625"/>
        <a:ext cx="1893307" cy="500305"/>
      </dsp:txXfrm>
    </dsp:sp>
    <dsp:sp modelId="{CBBF2575-A735-4877-8E17-7C42BA274E17}">
      <dsp:nvSpPr>
        <dsp:cNvPr id="0" name=""/>
        <dsp:cNvSpPr/>
      </dsp:nvSpPr>
      <dsp:spPr>
        <a:xfrm>
          <a:off x="411859" y="1256120"/>
          <a:ext cx="2477348" cy="53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Enhances transparency and decision efficiency</a:t>
          </a:r>
        </a:p>
      </dsp:txBody>
      <dsp:txXfrm>
        <a:off x="427424" y="1271685"/>
        <a:ext cx="1896404" cy="500305"/>
      </dsp:txXfrm>
    </dsp:sp>
    <dsp:sp modelId="{6E3C27EE-F826-42C9-9837-8121F004A102}">
      <dsp:nvSpPr>
        <dsp:cNvPr id="0" name=""/>
        <dsp:cNvSpPr/>
      </dsp:nvSpPr>
      <dsp:spPr>
        <a:xfrm>
          <a:off x="619337" y="1884181"/>
          <a:ext cx="2477348" cy="53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Improves environmental monitoring accuracy</a:t>
          </a:r>
        </a:p>
      </dsp:txBody>
      <dsp:txXfrm>
        <a:off x="634902" y="1899746"/>
        <a:ext cx="1893307" cy="500305"/>
      </dsp:txXfrm>
    </dsp:sp>
    <dsp:sp modelId="{F0EB6C57-E1ED-4E6D-8488-1E0795190635}">
      <dsp:nvSpPr>
        <dsp:cNvPr id="0" name=""/>
        <dsp:cNvSpPr/>
      </dsp:nvSpPr>
      <dsp:spPr>
        <a:xfrm>
          <a:off x="2131915" y="407031"/>
          <a:ext cx="345433" cy="345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209637" y="407031"/>
        <a:ext cx="189989" cy="259938"/>
      </dsp:txXfrm>
    </dsp:sp>
    <dsp:sp modelId="{9A34E5B5-248B-4418-BE57-6084DE61DCC4}">
      <dsp:nvSpPr>
        <dsp:cNvPr id="0" name=""/>
        <dsp:cNvSpPr/>
      </dsp:nvSpPr>
      <dsp:spPr>
        <a:xfrm>
          <a:off x="2339393" y="1035091"/>
          <a:ext cx="345433" cy="345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417115" y="1035091"/>
        <a:ext cx="189989" cy="259938"/>
      </dsp:txXfrm>
    </dsp:sp>
    <dsp:sp modelId="{32CB3F44-E48F-46CC-8EA6-B89904EC381E}">
      <dsp:nvSpPr>
        <dsp:cNvPr id="0" name=""/>
        <dsp:cNvSpPr/>
      </dsp:nvSpPr>
      <dsp:spPr>
        <a:xfrm>
          <a:off x="2543774" y="1663152"/>
          <a:ext cx="345433" cy="345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621496" y="1663152"/>
        <a:ext cx="189989" cy="259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18" Type="http://schemas.openxmlformats.org/officeDocument/2006/relationships/image" Target="../media/image23.jpe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jpeg"/><Relationship Id="rId17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diagramColors" Target="../diagrams/colors3.xml"/><Relationship Id="rId18" Type="http://schemas.openxmlformats.org/officeDocument/2006/relationships/diagramColors" Target="../diagrams/colors4.xml"/><Relationship Id="rId26" Type="http://schemas.openxmlformats.org/officeDocument/2006/relationships/image" Target="../media/image32.jpeg"/><Relationship Id="rId3" Type="http://schemas.openxmlformats.org/officeDocument/2006/relationships/image" Target="../media/image2.png"/><Relationship Id="rId21" Type="http://schemas.openxmlformats.org/officeDocument/2006/relationships/image" Target="../media/image27.jpeg"/><Relationship Id="rId7" Type="http://schemas.openxmlformats.org/officeDocument/2006/relationships/diagramColors" Target="../diagrams/colors2.xml"/><Relationship Id="rId12" Type="http://schemas.openxmlformats.org/officeDocument/2006/relationships/diagramQuickStyle" Target="../diagrams/quickStyle3.xml"/><Relationship Id="rId17" Type="http://schemas.openxmlformats.org/officeDocument/2006/relationships/diagramQuickStyle" Target="../diagrams/quickStyle4.xml"/><Relationship Id="rId25" Type="http://schemas.openxmlformats.org/officeDocument/2006/relationships/image" Target="../media/image31.jpeg"/><Relationship Id="rId2" Type="http://schemas.openxmlformats.org/officeDocument/2006/relationships/notesSlide" Target="../notesSlides/notesSlide4.xml"/><Relationship Id="rId16" Type="http://schemas.openxmlformats.org/officeDocument/2006/relationships/diagramLayout" Target="../diagrams/layout4.xml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Layout" Target="../diagrams/layout3.xml"/><Relationship Id="rId24" Type="http://schemas.openxmlformats.org/officeDocument/2006/relationships/image" Target="../media/image30.jpeg"/><Relationship Id="rId5" Type="http://schemas.openxmlformats.org/officeDocument/2006/relationships/diagramLayout" Target="../diagrams/layout2.xml"/><Relationship Id="rId15" Type="http://schemas.openxmlformats.org/officeDocument/2006/relationships/diagramData" Target="../diagrams/data4.xml"/><Relationship Id="rId23" Type="http://schemas.openxmlformats.org/officeDocument/2006/relationships/image" Target="../media/image29.jpeg"/><Relationship Id="rId28" Type="http://schemas.openxmlformats.org/officeDocument/2006/relationships/image" Target="../media/image34.png"/><Relationship Id="rId10" Type="http://schemas.openxmlformats.org/officeDocument/2006/relationships/diagramData" Target="../diagrams/data3.xml"/><Relationship Id="rId19" Type="http://schemas.microsoft.com/office/2007/relationships/diagramDrawing" Target="../diagrams/drawing4.xml"/><Relationship Id="rId4" Type="http://schemas.openxmlformats.org/officeDocument/2006/relationships/diagramData" Target="../diagrams/data2.xml"/><Relationship Id="rId9" Type="http://schemas.openxmlformats.org/officeDocument/2006/relationships/image" Target="../media/image25.png"/><Relationship Id="rId14" Type="http://schemas.microsoft.com/office/2007/relationships/diagramDrawing" Target="../diagrams/drawing3.xml"/><Relationship Id="rId22" Type="http://schemas.openxmlformats.org/officeDocument/2006/relationships/image" Target="../media/image28.jpe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3247-023-00805-6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ubs.usgs.gov/publication/cir1525/full" TargetMode="External"/><Relationship Id="rId12" Type="http://schemas.openxmlformats.org/officeDocument/2006/relationships/image" Target="../media/image3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0/23/6936" TargetMode="External"/><Relationship Id="rId11" Type="http://schemas.openxmlformats.org/officeDocument/2006/relationships/image" Target="../media/image38.jpeg"/><Relationship Id="rId5" Type="http://schemas.openxmlformats.org/officeDocument/2006/relationships/hyperlink" Target="https://www.mdpi.com/2072-4292/13/21/4485" TargetMode="External"/><Relationship Id="rId10" Type="http://schemas.openxmlformats.org/officeDocument/2006/relationships/image" Target="../media/image37.jpeg"/><Relationship Id="rId4" Type="http://schemas.openxmlformats.org/officeDocument/2006/relationships/hyperlink" Target="https://sarveshgajakosh23-d.github.io/PLANET-WATCH---AI/" TargetMode="External"/><Relationship Id="rId9" Type="http://schemas.openxmlformats.org/officeDocument/2006/relationships/hyperlink" Target="https://developers.google.com/earth-engine/datas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25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118" y="1752600"/>
            <a:ext cx="5924550" cy="5055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25232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Detection of Open Crust Mining Activity and 3D Visualization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66629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Planet Watch AI</a:t>
            </a:r>
            <a:endParaRPr lang="en-I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" y="74194"/>
            <a:ext cx="12192000" cy="1362075"/>
          </a:xfrm>
        </p:spPr>
        <p:txBody>
          <a:bodyPr/>
          <a:lstStyle/>
          <a:p>
            <a:pPr algn="ctr" eaLnBrk="1" hangingPunct="1"/>
            <a:r>
              <a:rPr lang="en-US" sz="25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204934" y="6356353"/>
            <a:ext cx="3860800" cy="365125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42405" y="6215775"/>
            <a:ext cx="3054291" cy="505703"/>
          </a:xfrm>
        </p:spPr>
        <p:txBody>
          <a:bodyPr/>
          <a:lstStyle/>
          <a:p>
            <a:fld id="{677C3CE7-23F7-4828-823C-E0205DF2CF97}" type="slidenum">
              <a:rPr lang="en-US" sz="1400" b="1" smtClean="0">
                <a:solidFill>
                  <a:schemeClr val="bg1"/>
                </a:solidFill>
              </a:rPr>
              <a:pPr/>
              <a:t>2</a:t>
            </a:fld>
            <a:endParaRPr lang="en-US" sz="1400" b="1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84572-9713-73E9-D407-15182CD2F3C7}"/>
              </a:ext>
            </a:extLst>
          </p:cNvPr>
          <p:cNvSpPr txBox="1"/>
          <p:nvPr/>
        </p:nvSpPr>
        <p:spPr>
          <a:xfrm>
            <a:off x="1660592" y="432176"/>
            <a:ext cx="10531408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>
                <a:solidFill>
                  <a:schemeClr val="tx2">
                    <a:lumMod val="75000"/>
                  </a:schemeClr>
                </a:solidFill>
              </a:rPr>
              <a:t>   Proposed Solution </a:t>
            </a:r>
          </a:p>
          <a:p>
            <a:pPr algn="ctr"/>
            <a:r>
              <a:rPr lang="en-IN"/>
              <a:t> 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52DD8C2F-F4B6-3A05-9E77-8B3FF98C50ED}"/>
              </a:ext>
            </a:extLst>
          </p:cNvPr>
          <p:cNvSpPr/>
          <p:nvPr/>
        </p:nvSpPr>
        <p:spPr>
          <a:xfrm>
            <a:off x="5397386" y="4770604"/>
            <a:ext cx="1290089" cy="534233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Satellite </a:t>
            </a:r>
            <a:endParaRPr lang="en-IN" sz="1400"/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C6BDB9F3-4A5D-B747-D05A-776ADE8686E4}"/>
              </a:ext>
            </a:extLst>
          </p:cNvPr>
          <p:cNvSpPr/>
          <p:nvPr/>
        </p:nvSpPr>
        <p:spPr>
          <a:xfrm>
            <a:off x="6774892" y="4770604"/>
            <a:ext cx="1145677" cy="534233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AI Model</a:t>
            </a:r>
            <a:endParaRPr lang="en-IN" sz="1400"/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26CAECBE-08C0-1B2C-86E5-A02A7D923AA4}"/>
              </a:ext>
            </a:extLst>
          </p:cNvPr>
          <p:cNvSpPr/>
          <p:nvPr/>
        </p:nvSpPr>
        <p:spPr>
          <a:xfrm>
            <a:off x="10811639" y="4800100"/>
            <a:ext cx="1296096" cy="534233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3D visualization</a:t>
            </a:r>
            <a:endParaRPr lang="en-IN" sz="1400"/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231C4A9F-9721-112A-8E10-D78469F08374}"/>
              </a:ext>
            </a:extLst>
          </p:cNvPr>
          <p:cNvSpPr/>
          <p:nvPr/>
        </p:nvSpPr>
        <p:spPr>
          <a:xfrm>
            <a:off x="9338119" y="4770604"/>
            <a:ext cx="1296095" cy="534233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Prediction</a:t>
            </a:r>
            <a:endParaRPr lang="en-IN" sz="1400"/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E7F5D865-81A5-408A-0875-13E5FEBAA859}"/>
              </a:ext>
            </a:extLst>
          </p:cNvPr>
          <p:cNvSpPr/>
          <p:nvPr/>
        </p:nvSpPr>
        <p:spPr>
          <a:xfrm>
            <a:off x="8045034" y="4770604"/>
            <a:ext cx="1145677" cy="534233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Detection</a:t>
            </a:r>
            <a:endParaRPr lang="en-IN" sz="1400"/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A1CBF7A4-6A82-3D4B-8E06-BA050752A451}"/>
              </a:ext>
            </a:extLst>
          </p:cNvPr>
          <p:cNvSpPr/>
          <p:nvPr/>
        </p:nvSpPr>
        <p:spPr>
          <a:xfrm>
            <a:off x="10874903" y="5840314"/>
            <a:ext cx="1145677" cy="444956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Report</a:t>
            </a:r>
            <a:endParaRPr lang="en-IN" sz="1400"/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DDE069A1-F71E-8A1F-9635-17EB2D3C9C49}"/>
              </a:ext>
            </a:extLst>
          </p:cNvPr>
          <p:cNvSpPr/>
          <p:nvPr/>
        </p:nvSpPr>
        <p:spPr>
          <a:xfrm>
            <a:off x="9412157" y="5833790"/>
            <a:ext cx="1078786" cy="468320"/>
          </a:xfrm>
          <a:prstGeom prst="homePlate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Alerts</a:t>
            </a:r>
            <a:endParaRPr lang="en-IN" sz="140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A0CFCDA1-9BF0-FC81-2C61-1F3A9B6475E2}"/>
              </a:ext>
            </a:extLst>
          </p:cNvPr>
          <p:cNvSpPr/>
          <p:nvPr/>
        </p:nvSpPr>
        <p:spPr>
          <a:xfrm>
            <a:off x="9760212" y="5320326"/>
            <a:ext cx="259228" cy="508491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7E7EA039-0B64-A0C4-8B55-A3C6A6B59753}"/>
              </a:ext>
            </a:extLst>
          </p:cNvPr>
          <p:cNvSpPr/>
          <p:nvPr/>
        </p:nvSpPr>
        <p:spPr>
          <a:xfrm>
            <a:off x="11188514" y="5320326"/>
            <a:ext cx="259228" cy="508491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C3499B-26E8-0D6A-88DE-C43EB0396D20}"/>
              </a:ext>
            </a:extLst>
          </p:cNvPr>
          <p:cNvSpPr txBox="1"/>
          <p:nvPr/>
        </p:nvSpPr>
        <p:spPr>
          <a:xfrm>
            <a:off x="4375910" y="5458177"/>
            <a:ext cx="50999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/>
              <a:t>A</a:t>
            </a:r>
            <a:r>
              <a:rPr lang="en-IN" sz="1500"/>
              <a:t>ccuracy → ~95-98% (with Al model &amp; satellite imagery)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/>
              <a:t>Alert Time → 24-48 hours, not months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/>
              <a:t>Coverage → Entire district/state with daily revisit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AA27DD-21B7-CECA-B84F-394BFF94035B}"/>
              </a:ext>
            </a:extLst>
          </p:cNvPr>
          <p:cNvSpPr/>
          <p:nvPr/>
        </p:nvSpPr>
        <p:spPr>
          <a:xfrm>
            <a:off x="6474899" y="2561137"/>
            <a:ext cx="1067096" cy="52531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200"/>
          </a:p>
          <a:p>
            <a:pPr algn="ctr"/>
            <a:r>
              <a:rPr lang="en-IN" sz="1200"/>
              <a:t>Community Safety Alerts</a:t>
            </a:r>
          </a:p>
          <a:p>
            <a:pPr algn="ctr"/>
            <a:endParaRPr lang="en-IN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3E703-B48C-EB99-D91C-72D96FCEC916}"/>
              </a:ext>
            </a:extLst>
          </p:cNvPr>
          <p:cNvSpPr/>
          <p:nvPr/>
        </p:nvSpPr>
        <p:spPr>
          <a:xfrm>
            <a:off x="9201602" y="2566123"/>
            <a:ext cx="1067096" cy="52531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AI Calculates Deforestation</a:t>
            </a:r>
          </a:p>
          <a:p>
            <a:pPr algn="ctr"/>
            <a:endParaRPr lang="en-IN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BBA77-D392-0D41-AC53-B6830EB16E3F}"/>
              </a:ext>
            </a:extLst>
          </p:cNvPr>
          <p:cNvSpPr/>
          <p:nvPr/>
        </p:nvSpPr>
        <p:spPr>
          <a:xfrm>
            <a:off x="7819447" y="1338658"/>
            <a:ext cx="1067096" cy="52531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200"/>
          </a:p>
          <a:p>
            <a:pPr algn="ctr"/>
            <a:r>
              <a:rPr lang="en-IN" sz="1200"/>
              <a:t>Citizen-Gov </a:t>
            </a:r>
            <a:r>
              <a:rPr lang="en-IN" sz="1200" err="1"/>
              <a:t>Collabration</a:t>
            </a:r>
            <a:endParaRPr lang="en-IN" sz="1200"/>
          </a:p>
          <a:p>
            <a:pPr algn="ctr"/>
            <a:endParaRPr lang="en-IN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155734-BB97-CF7B-B74D-CB5C29DEC8E4}"/>
              </a:ext>
            </a:extLst>
          </p:cNvPr>
          <p:cNvSpPr/>
          <p:nvPr/>
        </p:nvSpPr>
        <p:spPr>
          <a:xfrm>
            <a:off x="7819447" y="2561137"/>
            <a:ext cx="1067096" cy="52531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Uniqueness Of Solution</a:t>
            </a:r>
          </a:p>
          <a:p>
            <a:pPr algn="ctr"/>
            <a:endParaRPr lang="en-IN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17AFAB-975C-7DE5-C0BF-F58C743CA141}"/>
              </a:ext>
            </a:extLst>
          </p:cNvPr>
          <p:cNvSpPr/>
          <p:nvPr/>
        </p:nvSpPr>
        <p:spPr>
          <a:xfrm>
            <a:off x="7819447" y="3723660"/>
            <a:ext cx="1067096" cy="50323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Reduces Manual Effort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4CF1A8-5832-9E09-D7A7-4756906BB21A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8886543" y="2823793"/>
            <a:ext cx="315059" cy="4986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0A6B33-E6CE-6CA9-32C9-57918DBFFA6D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8352995" y="1863970"/>
            <a:ext cx="0" cy="697167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3802CC-452C-2218-7A3F-66D03D006133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8352995" y="3086449"/>
            <a:ext cx="0" cy="63721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B0D13F-9D11-AD6B-3FFC-09952A79A4E1}"/>
              </a:ext>
            </a:extLst>
          </p:cNvPr>
          <p:cNvCxnSpPr>
            <a:stCxn id="8" idx="1"/>
            <a:endCxn id="2" idx="3"/>
          </p:cNvCxnSpPr>
          <p:nvPr/>
        </p:nvCxnSpPr>
        <p:spPr>
          <a:xfrm flipH="1">
            <a:off x="7541995" y="2823793"/>
            <a:ext cx="277452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C14F0E5B-95CE-990F-E51E-FB37CC93DEFF}"/>
              </a:ext>
            </a:extLst>
          </p:cNvPr>
          <p:cNvSpPr/>
          <p:nvPr/>
        </p:nvSpPr>
        <p:spPr>
          <a:xfrm>
            <a:off x="1808472" y="5128374"/>
            <a:ext cx="1123416" cy="534233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Future Scope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0D8D1BC-9F38-D190-AE39-5A57A94714A7}"/>
              </a:ext>
            </a:extLst>
          </p:cNvPr>
          <p:cNvSpPr/>
          <p:nvPr/>
        </p:nvSpPr>
        <p:spPr>
          <a:xfrm>
            <a:off x="3317483" y="4611820"/>
            <a:ext cx="1058427" cy="44190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Protects Ecosystem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D08C13D-0747-5D8F-70A6-6BC8E4DF76E4}"/>
              </a:ext>
            </a:extLst>
          </p:cNvPr>
          <p:cNvSpPr/>
          <p:nvPr/>
        </p:nvSpPr>
        <p:spPr>
          <a:xfrm>
            <a:off x="412729" y="5778763"/>
            <a:ext cx="1058427" cy="44190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Nation wide Scaling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62E4BFF-1EE4-D73C-404A-45FA45227C49}"/>
              </a:ext>
            </a:extLst>
          </p:cNvPr>
          <p:cNvSpPr/>
          <p:nvPr/>
        </p:nvSpPr>
        <p:spPr>
          <a:xfrm>
            <a:off x="389071" y="4585849"/>
            <a:ext cx="1058427" cy="44190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Long-Term Monitoring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8445A98-F120-AD52-9328-F23EF09FFEE3}"/>
              </a:ext>
            </a:extLst>
          </p:cNvPr>
          <p:cNvSpPr/>
          <p:nvPr/>
        </p:nvSpPr>
        <p:spPr>
          <a:xfrm>
            <a:off x="3306922" y="5795996"/>
            <a:ext cx="1058427" cy="44190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Mobile App</a:t>
            </a:r>
          </a:p>
        </p:txBody>
      </p:sp>
      <p:cxnSp>
        <p:nvCxnSpPr>
          <p:cNvPr id="15360" name="Connector: Elbow 15359">
            <a:extLst>
              <a:ext uri="{FF2B5EF4-FFF2-40B4-BE49-F238E27FC236}">
                <a16:creationId xmlns:a16="http://schemas.microsoft.com/office/drawing/2014/main" id="{FCE0060E-CBD0-2AAE-46E5-682F6BA13D6C}"/>
              </a:ext>
            </a:extLst>
          </p:cNvPr>
          <p:cNvCxnSpPr>
            <a:stCxn id="59" idx="7"/>
          </p:cNvCxnSpPr>
          <p:nvPr/>
        </p:nvCxnSpPr>
        <p:spPr>
          <a:xfrm rot="5400000" flipH="1" flipV="1">
            <a:off x="2845232" y="4767657"/>
            <a:ext cx="361090" cy="5168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2" name="Connector: Elbow 15361">
            <a:extLst>
              <a:ext uri="{FF2B5EF4-FFF2-40B4-BE49-F238E27FC236}">
                <a16:creationId xmlns:a16="http://schemas.microsoft.com/office/drawing/2014/main" id="{0840DC0A-D231-6A22-A894-FF15050AEFC0}"/>
              </a:ext>
            </a:extLst>
          </p:cNvPr>
          <p:cNvCxnSpPr>
            <a:stCxn id="59" idx="5"/>
          </p:cNvCxnSpPr>
          <p:nvPr/>
        </p:nvCxnSpPr>
        <p:spPr>
          <a:xfrm rot="16200000" flipH="1">
            <a:off x="2790130" y="5561608"/>
            <a:ext cx="471295" cy="5168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3" name="Connector: Elbow 15362">
            <a:extLst>
              <a:ext uri="{FF2B5EF4-FFF2-40B4-BE49-F238E27FC236}">
                <a16:creationId xmlns:a16="http://schemas.microsoft.com/office/drawing/2014/main" id="{5D359CC0-8682-BC6A-4B9A-696CEDAA4C8D}"/>
              </a:ext>
            </a:extLst>
          </p:cNvPr>
          <p:cNvCxnSpPr>
            <a:cxnSpLocks/>
            <a:stCxn id="59" idx="1"/>
          </p:cNvCxnSpPr>
          <p:nvPr/>
        </p:nvCxnSpPr>
        <p:spPr>
          <a:xfrm rot="16200000" flipV="1">
            <a:off x="1520063" y="4753682"/>
            <a:ext cx="361092" cy="5447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4" name="Connector: Elbow 15363">
            <a:extLst>
              <a:ext uri="{FF2B5EF4-FFF2-40B4-BE49-F238E27FC236}">
                <a16:creationId xmlns:a16="http://schemas.microsoft.com/office/drawing/2014/main" id="{E5A34246-F40D-1A2C-1A62-07991326DCC8}"/>
              </a:ext>
            </a:extLst>
          </p:cNvPr>
          <p:cNvCxnSpPr>
            <a:stCxn id="59" idx="3"/>
          </p:cNvCxnSpPr>
          <p:nvPr/>
        </p:nvCxnSpPr>
        <p:spPr>
          <a:xfrm rot="5400000">
            <a:off x="1464962" y="5547636"/>
            <a:ext cx="471296" cy="5447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74" name="Picture 15373">
            <a:extLst>
              <a:ext uri="{FF2B5EF4-FFF2-40B4-BE49-F238E27FC236}">
                <a16:creationId xmlns:a16="http://schemas.microsoft.com/office/drawing/2014/main" id="{6CCF1938-2D5D-2D88-BB30-531856995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696" y="1537781"/>
            <a:ext cx="1354506" cy="940738"/>
          </a:xfrm>
          <a:prstGeom prst="rect">
            <a:avLst/>
          </a:prstGeom>
        </p:spPr>
      </p:pic>
      <p:pic>
        <p:nvPicPr>
          <p:cNvPr id="15375" name="Picture 15374">
            <a:extLst>
              <a:ext uri="{FF2B5EF4-FFF2-40B4-BE49-F238E27FC236}">
                <a16:creationId xmlns:a16="http://schemas.microsoft.com/office/drawing/2014/main" id="{501AAB45-E1B6-5F2C-3A8B-6D07D1CD631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527550" y="3118747"/>
            <a:ext cx="1315534" cy="940738"/>
          </a:xfrm>
          <a:prstGeom prst="rect">
            <a:avLst/>
          </a:prstGeom>
        </p:spPr>
      </p:pic>
      <p:sp>
        <p:nvSpPr>
          <p:cNvPr id="15376" name="Arrow: Curved Left 15375">
            <a:extLst>
              <a:ext uri="{FF2B5EF4-FFF2-40B4-BE49-F238E27FC236}">
                <a16:creationId xmlns:a16="http://schemas.microsoft.com/office/drawing/2014/main" id="{45079536-A77A-C9DE-30AC-CF6309B41845}"/>
              </a:ext>
            </a:extLst>
          </p:cNvPr>
          <p:cNvSpPr/>
          <p:nvPr/>
        </p:nvSpPr>
        <p:spPr>
          <a:xfrm>
            <a:off x="11129714" y="2473954"/>
            <a:ext cx="188414" cy="52531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3FA8DC44-E7B1-05A6-16E6-D8BA3D4AB4C1}"/>
              </a:ext>
            </a:extLst>
          </p:cNvPr>
          <p:cNvSpPr/>
          <p:nvPr/>
        </p:nvSpPr>
        <p:spPr>
          <a:xfrm>
            <a:off x="10599327" y="1057546"/>
            <a:ext cx="1137738" cy="28990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Before</a:t>
            </a:r>
          </a:p>
        </p:txBody>
      </p:sp>
      <p:sp>
        <p:nvSpPr>
          <p:cNvPr id="15378" name="Rectangle 15377">
            <a:extLst>
              <a:ext uri="{FF2B5EF4-FFF2-40B4-BE49-F238E27FC236}">
                <a16:creationId xmlns:a16="http://schemas.microsoft.com/office/drawing/2014/main" id="{6EA2324B-88B7-64AD-907E-0997C75C0B28}"/>
              </a:ext>
            </a:extLst>
          </p:cNvPr>
          <p:cNvSpPr/>
          <p:nvPr/>
        </p:nvSpPr>
        <p:spPr>
          <a:xfrm>
            <a:off x="10685395" y="4167285"/>
            <a:ext cx="1137738" cy="28990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After</a:t>
            </a:r>
          </a:p>
        </p:txBody>
      </p:sp>
      <p:sp>
        <p:nvSpPr>
          <p:cNvPr id="15384" name="Oval 15383" descr="Your startup LOGO">
            <a:extLst>
              <a:ext uri="{FF2B5EF4-FFF2-40B4-BE49-F238E27FC236}">
                <a16:creationId xmlns:a16="http://schemas.microsoft.com/office/drawing/2014/main" id="{4CE41D5B-8772-1758-D565-A814744FFC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8735" y="14504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Planet watch AI </a:t>
            </a:r>
            <a:endParaRPr lang="en-IN"/>
          </a:p>
        </p:txBody>
      </p:sp>
      <p:pic>
        <p:nvPicPr>
          <p:cNvPr id="15385" name="Picture 15384">
            <a:extLst>
              <a:ext uri="{FF2B5EF4-FFF2-40B4-BE49-F238E27FC236}">
                <a16:creationId xmlns:a16="http://schemas.microsoft.com/office/drawing/2014/main" id="{C79CB6D7-61B8-1676-8EAC-33F0A0EFACE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08447" y="1308075"/>
            <a:ext cx="657258" cy="657258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386" name="Picture 15385">
            <a:extLst>
              <a:ext uri="{FF2B5EF4-FFF2-40B4-BE49-F238E27FC236}">
                <a16:creationId xmlns:a16="http://schemas.microsoft.com/office/drawing/2014/main" id="{0AA53803-689B-B0EB-1F80-EFC65368259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798689" y="3296728"/>
            <a:ext cx="426932" cy="426932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387" name="Picture 15386">
            <a:extLst>
              <a:ext uri="{FF2B5EF4-FFF2-40B4-BE49-F238E27FC236}">
                <a16:creationId xmlns:a16="http://schemas.microsoft.com/office/drawing/2014/main" id="{9E95C98C-712B-B7C1-0A4B-B47403FEF472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451322" y="1854790"/>
            <a:ext cx="520024" cy="520024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5388" name="Picture 15387">
            <a:extLst>
              <a:ext uri="{FF2B5EF4-FFF2-40B4-BE49-F238E27FC236}">
                <a16:creationId xmlns:a16="http://schemas.microsoft.com/office/drawing/2014/main" id="{1EDC481B-631D-5857-11F4-682C8F3A7137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117509" y="3691124"/>
            <a:ext cx="520024" cy="520024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502C89-C500-DD72-3394-9A021B48FC2C}"/>
              </a:ext>
            </a:extLst>
          </p:cNvPr>
          <p:cNvSpPr txBox="1"/>
          <p:nvPr/>
        </p:nvSpPr>
        <p:spPr>
          <a:xfrm>
            <a:off x="55917" y="952382"/>
            <a:ext cx="6261205" cy="362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AI-Driven Geo-Intelligence Platform – </a:t>
            </a:r>
            <a:r>
              <a:rPr lang="en-US" sz="1400"/>
              <a:t>Our product, TerraWatch, applies Artificial Intelligence and satellite imaging to track and manage illegal open-crust mining in real time.</a:t>
            </a:r>
          </a:p>
          <a:p>
            <a:r>
              <a:rPr lang="en-US" sz="1400" b="1"/>
              <a:t>Satellite Image Analysis – </a:t>
            </a:r>
            <a:r>
              <a:rPr lang="en-US" sz="1400"/>
              <a:t>Does the image collection from Sentinel, ISRO-Bhuvan, and other sources for land deformation, deforestation, and soil disturbance caused by mining.</a:t>
            </a:r>
          </a:p>
          <a:p>
            <a:r>
              <a:rPr lang="en-US" sz="1400" b="1"/>
              <a:t>Automated Risk Prediction – </a:t>
            </a:r>
            <a:r>
              <a:rPr lang="en-US" sz="1400"/>
              <a:t>Applies analysis of vegetation loss, terrain slope, and distance to sensitive areas (rivers, villages, forests) to forecast future mining risks.</a:t>
            </a:r>
          </a:p>
          <a:p>
            <a:r>
              <a:rPr lang="en-US" sz="1400" b="1"/>
              <a:t>3D Interactive Mapping – </a:t>
            </a:r>
            <a:r>
              <a:rPr lang="en-US" sz="1400"/>
              <a:t>Presents outputs as 3D maps and digital twins, enabling authorities to visually review and comprehend impacted areas with easily.</a:t>
            </a:r>
          </a:p>
          <a:p>
            <a:r>
              <a:rPr lang="en-US" sz="1400" b="1"/>
              <a:t>Real-Time Alerts &amp; Reports – </a:t>
            </a:r>
            <a:r>
              <a:rPr lang="en-US" sz="1400"/>
              <a:t>Provides real-time alerts, summary dashboards, and automatically generated PDF reports for authorities to act quickly.</a:t>
            </a:r>
          </a:p>
          <a:p>
            <a:r>
              <a:rPr lang="en-US" sz="1400" b="1"/>
              <a:t>User-Friendly Dashboard – </a:t>
            </a:r>
            <a:r>
              <a:rPr lang="en-US" sz="1400"/>
              <a:t>Filtered for district officials and environmental officers with easy navigation and multi-language support for greater accessibility.</a:t>
            </a:r>
          </a:p>
          <a:p>
            <a:r>
              <a:rPr lang="en-US" sz="1400" b="1"/>
              <a:t>Outcome- </a:t>
            </a:r>
            <a:r>
              <a:rPr lang="en-US" sz="1400"/>
              <a:t>Speeds up environmental monitoring, makes it more transparent and accessible — AI + Data + Action for the preservation of our planet.</a:t>
            </a:r>
            <a:endParaRPr lang="en-I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69618"/>
            <a:ext cx="12191999" cy="48838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5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8137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Planet Watch AI</a:t>
            </a:r>
            <a:endParaRPr lang="en-IN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F70DF8-FB25-FAF2-1C0D-2B3B51441C1F}"/>
              </a:ext>
            </a:extLst>
          </p:cNvPr>
          <p:cNvSpPr/>
          <p:nvPr/>
        </p:nvSpPr>
        <p:spPr>
          <a:xfrm>
            <a:off x="1953944" y="1627629"/>
            <a:ext cx="1750140" cy="421354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Processing Image and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6286F9-40E0-E68A-71F8-886E6F4A1175}"/>
              </a:ext>
            </a:extLst>
          </p:cNvPr>
          <p:cNvSpPr/>
          <p:nvPr/>
        </p:nvSpPr>
        <p:spPr>
          <a:xfrm>
            <a:off x="7968687" y="1645596"/>
            <a:ext cx="1511050" cy="542005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Web Platform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C3169-141F-5B07-4FD3-701AE67EB33C}"/>
              </a:ext>
            </a:extLst>
          </p:cNvPr>
          <p:cNvSpPr/>
          <p:nvPr/>
        </p:nvSpPr>
        <p:spPr>
          <a:xfrm>
            <a:off x="206479" y="1636815"/>
            <a:ext cx="1455174" cy="339470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Satellite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AFA406-1D69-1153-3789-35E9C8056FEA}"/>
              </a:ext>
            </a:extLst>
          </p:cNvPr>
          <p:cNvSpPr/>
          <p:nvPr/>
        </p:nvSpPr>
        <p:spPr>
          <a:xfrm>
            <a:off x="4169189" y="1587662"/>
            <a:ext cx="1511049" cy="50323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Detection of Mining Activity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7552B8-E796-9D5B-1666-E041F194834C}"/>
              </a:ext>
            </a:extLst>
          </p:cNvPr>
          <p:cNvSpPr/>
          <p:nvPr/>
        </p:nvSpPr>
        <p:spPr>
          <a:xfrm>
            <a:off x="6047013" y="1555498"/>
            <a:ext cx="1511049" cy="682320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3D visualization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0D1142-18A8-0D69-8C5B-9F5CED2842D0}"/>
              </a:ext>
            </a:extLst>
          </p:cNvPr>
          <p:cNvSpPr/>
          <p:nvPr/>
        </p:nvSpPr>
        <p:spPr>
          <a:xfrm>
            <a:off x="9809956" y="1648963"/>
            <a:ext cx="2025445" cy="50323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solidFill>
                  <a:schemeClr val="tx1"/>
                </a:solidFill>
              </a:rPr>
              <a:t>Analysis 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E25F13-CA73-6B82-8700-70FCDDB8CFB3}"/>
              </a:ext>
            </a:extLst>
          </p:cNvPr>
          <p:cNvSpPr/>
          <p:nvPr/>
        </p:nvSpPr>
        <p:spPr>
          <a:xfrm>
            <a:off x="228113" y="2280891"/>
            <a:ext cx="1455175" cy="83863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GEE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Sentinal 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/>
              <a:t>Landsat 8/9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8286D3-A57F-7FB5-82C1-7188B9149E08}"/>
              </a:ext>
            </a:extLst>
          </p:cNvPr>
          <p:cNvSpPr/>
          <p:nvPr/>
        </p:nvSpPr>
        <p:spPr>
          <a:xfrm>
            <a:off x="2227061" y="2369330"/>
            <a:ext cx="1089140" cy="50323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 Library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44ED82-37D3-9B66-3806-9BC43C95F48F}"/>
              </a:ext>
            </a:extLst>
          </p:cNvPr>
          <p:cNvSpPr/>
          <p:nvPr/>
        </p:nvSpPr>
        <p:spPr>
          <a:xfrm>
            <a:off x="2217229" y="3094586"/>
            <a:ext cx="1089140" cy="120936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</a:rPr>
              <a:t>Geemap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</a:rPr>
              <a:t>Rasterio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</a:rPr>
              <a:t>Open CV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</a:rPr>
              <a:t>NumPy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5096E7-A2A5-7ACC-C766-049AAD2CDC39}"/>
              </a:ext>
            </a:extLst>
          </p:cNvPr>
          <p:cNvSpPr/>
          <p:nvPr/>
        </p:nvSpPr>
        <p:spPr>
          <a:xfrm>
            <a:off x="3315120" y="2765595"/>
            <a:ext cx="1511049" cy="42548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TensorFlow</a:t>
            </a:r>
            <a:r>
              <a:rPr lang="en-IN"/>
              <a:t>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8EBD16-0788-D3B1-EE79-B23A557977C7}"/>
              </a:ext>
            </a:extLst>
          </p:cNvPr>
          <p:cNvSpPr/>
          <p:nvPr/>
        </p:nvSpPr>
        <p:spPr>
          <a:xfrm>
            <a:off x="4970750" y="2777127"/>
            <a:ext cx="1233405" cy="42548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PyTorch</a:t>
            </a:r>
            <a:endParaRPr lang="en-IN" sz="16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: Top Corners One Rounded and One Snipped 24">
            <a:extLst>
              <a:ext uri="{FF2B5EF4-FFF2-40B4-BE49-F238E27FC236}">
                <a16:creationId xmlns:a16="http://schemas.microsoft.com/office/drawing/2014/main" id="{27F11E66-717E-7DAC-514F-AA23D41B01ED}"/>
              </a:ext>
            </a:extLst>
          </p:cNvPr>
          <p:cNvSpPr/>
          <p:nvPr/>
        </p:nvSpPr>
        <p:spPr>
          <a:xfrm>
            <a:off x="3841764" y="3560161"/>
            <a:ext cx="2100659" cy="1005262"/>
          </a:xfrm>
          <a:prstGeom prst="snip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/>
              <a:t>Deep Learning Model</a:t>
            </a:r>
          </a:p>
          <a:p>
            <a:pPr algn="ctr"/>
            <a:endParaRPr lang="en-IN" sz="1400" b="1"/>
          </a:p>
          <a:p>
            <a:pPr algn="ctr"/>
            <a:endParaRPr lang="en-IN" sz="1400" b="1"/>
          </a:p>
          <a:p>
            <a:pPr algn="ctr"/>
            <a:r>
              <a:rPr lang="en-IN" sz="1400" b="1"/>
              <a:t>U-NET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CC2632FD-4976-970F-F1D3-E569F40CAE76}"/>
              </a:ext>
            </a:extLst>
          </p:cNvPr>
          <p:cNvSpPr/>
          <p:nvPr/>
        </p:nvSpPr>
        <p:spPr>
          <a:xfrm rot="16200000">
            <a:off x="4720027" y="2889262"/>
            <a:ext cx="324464" cy="9314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A19AE6-5CF4-9062-02F8-542FDC05F899}"/>
              </a:ext>
            </a:extLst>
          </p:cNvPr>
          <p:cNvSpPr/>
          <p:nvPr/>
        </p:nvSpPr>
        <p:spPr>
          <a:xfrm>
            <a:off x="6282265" y="2712326"/>
            <a:ext cx="2455335" cy="90904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/>
              <a:t>Cesium</a:t>
            </a:r>
            <a:r>
              <a:rPr lang="en-IN" sz="1400"/>
              <a:t>  = for 3D visualization</a:t>
            </a:r>
          </a:p>
          <a:p>
            <a:r>
              <a:rPr lang="en-IN" sz="1400" b="1"/>
              <a:t>DEM</a:t>
            </a:r>
            <a:r>
              <a:rPr lang="en-IN" sz="1400"/>
              <a:t> (Digital Elevation Model)</a:t>
            </a:r>
          </a:p>
          <a:p>
            <a:r>
              <a:rPr lang="en-IN" sz="1400" b="1"/>
              <a:t>GeoJson</a:t>
            </a:r>
            <a:r>
              <a:rPr lang="en-IN" sz="1400"/>
              <a:t> = To mark detect zone  </a:t>
            </a:r>
          </a:p>
        </p:txBody>
      </p:sp>
      <p:sp>
        <p:nvSpPr>
          <p:cNvPr id="30" name="Plaque 29">
            <a:extLst>
              <a:ext uri="{FF2B5EF4-FFF2-40B4-BE49-F238E27FC236}">
                <a16:creationId xmlns:a16="http://schemas.microsoft.com/office/drawing/2014/main" id="{1DC93B1D-0E3B-E3B1-AEE4-C7466A9375D0}"/>
              </a:ext>
            </a:extLst>
          </p:cNvPr>
          <p:cNvSpPr/>
          <p:nvPr/>
        </p:nvSpPr>
        <p:spPr>
          <a:xfrm>
            <a:off x="7337473" y="3749977"/>
            <a:ext cx="2706122" cy="1227431"/>
          </a:xfrm>
          <a:prstGeom prst="plaqu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/>
          </a:p>
          <a:p>
            <a:r>
              <a:rPr lang="en-IN" sz="1400" b="1"/>
              <a:t>Frontend: </a:t>
            </a:r>
            <a:r>
              <a:rPr lang="en-IN" sz="1400"/>
              <a:t>React + CesiumJS </a:t>
            </a:r>
          </a:p>
          <a:p>
            <a:r>
              <a:rPr lang="en-IN" sz="1400" b="1"/>
              <a:t>Backend: </a:t>
            </a:r>
            <a:r>
              <a:rPr lang="en-IN" sz="1400"/>
              <a:t>Flask (Python) for ML processing</a:t>
            </a:r>
          </a:p>
          <a:p>
            <a:r>
              <a:rPr lang="en-IN" sz="1400" b="1"/>
              <a:t>Database:</a:t>
            </a:r>
            <a:r>
              <a:rPr lang="en-IN" sz="1400"/>
              <a:t> PostgreSQL + PostGIS for spatial data</a:t>
            </a:r>
          </a:p>
          <a:p>
            <a:r>
              <a:rPr lang="en-IN" sz="1400" b="1"/>
              <a:t>Cloud</a:t>
            </a:r>
            <a:r>
              <a:rPr lang="en-IN" sz="1400"/>
              <a:t>: AWS for hosting</a:t>
            </a:r>
            <a:r>
              <a:rPr lang="en-IN" sz="1200"/>
              <a:t>.</a:t>
            </a:r>
          </a:p>
          <a:p>
            <a:endParaRPr lang="en-IN" sz="1100"/>
          </a:p>
        </p:txBody>
      </p:sp>
      <p:sp>
        <p:nvSpPr>
          <p:cNvPr id="36" name="Hexagon 35">
            <a:extLst>
              <a:ext uri="{FF2B5EF4-FFF2-40B4-BE49-F238E27FC236}">
                <a16:creationId xmlns:a16="http://schemas.microsoft.com/office/drawing/2014/main" id="{C03432D2-DD0C-4007-5D9D-EC8F1ECAB049}"/>
              </a:ext>
            </a:extLst>
          </p:cNvPr>
          <p:cNvSpPr/>
          <p:nvPr/>
        </p:nvSpPr>
        <p:spPr>
          <a:xfrm>
            <a:off x="10246142" y="2471306"/>
            <a:ext cx="1821426" cy="459015"/>
          </a:xfrm>
          <a:prstGeom prst="hex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Report Before &amp; After</a:t>
            </a:r>
          </a:p>
        </p:txBody>
      </p:sp>
      <p:sp>
        <p:nvSpPr>
          <p:cNvPr id="39" name="Hexagon 38">
            <a:extLst>
              <a:ext uri="{FF2B5EF4-FFF2-40B4-BE49-F238E27FC236}">
                <a16:creationId xmlns:a16="http://schemas.microsoft.com/office/drawing/2014/main" id="{D164B5F2-888F-AE7A-DF10-BC5A0AD3DDAA}"/>
              </a:ext>
            </a:extLst>
          </p:cNvPr>
          <p:cNvSpPr/>
          <p:nvPr/>
        </p:nvSpPr>
        <p:spPr>
          <a:xfrm>
            <a:off x="10263939" y="4145513"/>
            <a:ext cx="1821426" cy="531974"/>
          </a:xfrm>
          <a:prstGeom prst="hex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Map</a:t>
            </a:r>
          </a:p>
          <a:p>
            <a:pPr algn="ctr"/>
            <a:r>
              <a:rPr lang="en-IN" sz="1400" b="1">
                <a:solidFill>
                  <a:schemeClr val="tx1"/>
                </a:solidFill>
              </a:rPr>
              <a:t>Snapshots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73C63C-1B38-14A5-B283-1CBAFE520857}"/>
              </a:ext>
            </a:extLst>
          </p:cNvPr>
          <p:cNvSpPr/>
          <p:nvPr/>
        </p:nvSpPr>
        <p:spPr>
          <a:xfrm>
            <a:off x="10458960" y="3014911"/>
            <a:ext cx="1431003" cy="90904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/>
              <a:t>Numpy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/>
              <a:t>Open CV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/>
              <a:t>Matplotlib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3C1A80-1F72-4FC5-8C0D-F9FCEB0B5D45}"/>
              </a:ext>
            </a:extLst>
          </p:cNvPr>
          <p:cNvSpPr/>
          <p:nvPr/>
        </p:nvSpPr>
        <p:spPr>
          <a:xfrm>
            <a:off x="10540182" y="4765393"/>
            <a:ext cx="1349781" cy="75084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/>
              <a:t>Python</a:t>
            </a:r>
          </a:p>
          <a:p>
            <a:pPr algn="ctr"/>
            <a:r>
              <a:rPr lang="en-IN" sz="1400"/>
              <a:t> </a:t>
            </a:r>
          </a:p>
          <a:p>
            <a:pPr algn="ctr"/>
            <a:r>
              <a:rPr lang="en-IN" sz="1400"/>
              <a:t>Matplotlib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63AE1413-C9A0-A86B-597D-1A30001C25CF}"/>
              </a:ext>
            </a:extLst>
          </p:cNvPr>
          <p:cNvSpPr/>
          <p:nvPr/>
        </p:nvSpPr>
        <p:spPr>
          <a:xfrm>
            <a:off x="10042865" y="2699643"/>
            <a:ext cx="195930" cy="17210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FCA3AF2D-4B8F-DAF0-4864-F65A8B95671A}"/>
              </a:ext>
            </a:extLst>
          </p:cNvPr>
          <p:cNvSpPr/>
          <p:nvPr/>
        </p:nvSpPr>
        <p:spPr>
          <a:xfrm>
            <a:off x="1650587" y="1737318"/>
            <a:ext cx="373626" cy="179280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1E771F26-A583-14B7-A089-1C94E4C5CFD7}"/>
              </a:ext>
            </a:extLst>
          </p:cNvPr>
          <p:cNvSpPr/>
          <p:nvPr/>
        </p:nvSpPr>
        <p:spPr>
          <a:xfrm>
            <a:off x="9502334" y="1810423"/>
            <a:ext cx="320283" cy="175875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D3791EE5-2E05-14AF-D9DE-96A360591B2A}"/>
              </a:ext>
            </a:extLst>
          </p:cNvPr>
          <p:cNvSpPr/>
          <p:nvPr/>
        </p:nvSpPr>
        <p:spPr>
          <a:xfrm>
            <a:off x="7581409" y="1784028"/>
            <a:ext cx="373626" cy="179280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D91E315B-D71B-777B-BC1F-19CF898415D3}"/>
              </a:ext>
            </a:extLst>
          </p:cNvPr>
          <p:cNvSpPr/>
          <p:nvPr/>
        </p:nvSpPr>
        <p:spPr>
          <a:xfrm>
            <a:off x="5702373" y="1757858"/>
            <a:ext cx="373626" cy="179280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EDE3744A-B2B0-CFD2-029B-98C18716F2B2}"/>
              </a:ext>
            </a:extLst>
          </p:cNvPr>
          <p:cNvSpPr/>
          <p:nvPr/>
        </p:nvSpPr>
        <p:spPr>
          <a:xfrm>
            <a:off x="3709261" y="1743093"/>
            <a:ext cx="479592" cy="203695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421" name="Straight Arrow Connector 17420">
            <a:extLst>
              <a:ext uri="{FF2B5EF4-FFF2-40B4-BE49-F238E27FC236}">
                <a16:creationId xmlns:a16="http://schemas.microsoft.com/office/drawing/2014/main" id="{2CC0AA35-CD5F-711F-0262-1D7A58183AB4}"/>
              </a:ext>
            </a:extLst>
          </p:cNvPr>
          <p:cNvCxnSpPr/>
          <p:nvPr/>
        </p:nvCxnSpPr>
        <p:spPr>
          <a:xfrm>
            <a:off x="11174461" y="2152201"/>
            <a:ext cx="0" cy="31910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25" name="Straight Arrow Connector 17424">
            <a:extLst>
              <a:ext uri="{FF2B5EF4-FFF2-40B4-BE49-F238E27FC236}">
                <a16:creationId xmlns:a16="http://schemas.microsoft.com/office/drawing/2014/main" id="{702FAB06-2E10-5135-772C-1EDABD1EAF7E}"/>
              </a:ext>
            </a:extLst>
          </p:cNvPr>
          <p:cNvCxnSpPr>
            <a:cxnSpLocks/>
          </p:cNvCxnSpPr>
          <p:nvPr/>
        </p:nvCxnSpPr>
        <p:spPr>
          <a:xfrm>
            <a:off x="11174461" y="5019957"/>
            <a:ext cx="0" cy="243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29" name="Straight Arrow Connector 17428">
            <a:extLst>
              <a:ext uri="{FF2B5EF4-FFF2-40B4-BE49-F238E27FC236}">
                <a16:creationId xmlns:a16="http://schemas.microsoft.com/office/drawing/2014/main" id="{F345FB0C-B3F4-D121-00D6-20C70E1A5D44}"/>
              </a:ext>
            </a:extLst>
          </p:cNvPr>
          <p:cNvCxnSpPr>
            <a:cxnSpLocks/>
          </p:cNvCxnSpPr>
          <p:nvPr/>
        </p:nvCxnSpPr>
        <p:spPr>
          <a:xfrm>
            <a:off x="4895483" y="3910559"/>
            <a:ext cx="0" cy="30446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33" name="Left Brace 17432">
            <a:extLst>
              <a:ext uri="{FF2B5EF4-FFF2-40B4-BE49-F238E27FC236}">
                <a16:creationId xmlns:a16="http://schemas.microsoft.com/office/drawing/2014/main" id="{6E0339F6-73DA-F354-6596-82DCD3A1D764}"/>
              </a:ext>
            </a:extLst>
          </p:cNvPr>
          <p:cNvSpPr/>
          <p:nvPr/>
        </p:nvSpPr>
        <p:spPr>
          <a:xfrm>
            <a:off x="9649983" y="1976285"/>
            <a:ext cx="125093" cy="1573792"/>
          </a:xfrm>
          <a:prstGeom prst="leftBrace">
            <a:avLst>
              <a:gd name="adj1" fmla="val 47858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435" name="Straight Connector 17434">
            <a:extLst>
              <a:ext uri="{FF2B5EF4-FFF2-40B4-BE49-F238E27FC236}">
                <a16:creationId xmlns:a16="http://schemas.microsoft.com/office/drawing/2014/main" id="{64A3CAD2-6B97-AAFA-9771-FAD26FA9DAFB}"/>
              </a:ext>
            </a:extLst>
          </p:cNvPr>
          <p:cNvCxnSpPr>
            <a:endCxn id="42" idx="1"/>
          </p:cNvCxnSpPr>
          <p:nvPr/>
        </p:nvCxnSpPr>
        <p:spPr>
          <a:xfrm>
            <a:off x="9775076" y="3550077"/>
            <a:ext cx="267789" cy="10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Straight Arrow Connector 17436">
            <a:extLst>
              <a:ext uri="{FF2B5EF4-FFF2-40B4-BE49-F238E27FC236}">
                <a16:creationId xmlns:a16="http://schemas.microsoft.com/office/drawing/2014/main" id="{A8EE8F10-FDD2-310F-6993-FD81394A5E71}"/>
              </a:ext>
            </a:extLst>
          </p:cNvPr>
          <p:cNvCxnSpPr>
            <a:cxnSpLocks/>
          </p:cNvCxnSpPr>
          <p:nvPr/>
        </p:nvCxnSpPr>
        <p:spPr>
          <a:xfrm>
            <a:off x="2763407" y="2055459"/>
            <a:ext cx="0" cy="30446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39" name="Straight Arrow Connector 17438">
            <a:extLst>
              <a:ext uri="{FF2B5EF4-FFF2-40B4-BE49-F238E27FC236}">
                <a16:creationId xmlns:a16="http://schemas.microsoft.com/office/drawing/2014/main" id="{6E6B3C7E-208D-A89C-4D3C-A03657192926}"/>
              </a:ext>
            </a:extLst>
          </p:cNvPr>
          <p:cNvCxnSpPr>
            <a:cxnSpLocks/>
          </p:cNvCxnSpPr>
          <p:nvPr/>
        </p:nvCxnSpPr>
        <p:spPr>
          <a:xfrm>
            <a:off x="6912620" y="2237818"/>
            <a:ext cx="0" cy="4745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41" name="Straight Arrow Connector 17440">
            <a:extLst>
              <a:ext uri="{FF2B5EF4-FFF2-40B4-BE49-F238E27FC236}">
                <a16:creationId xmlns:a16="http://schemas.microsoft.com/office/drawing/2014/main" id="{58757209-A444-3A18-244B-02895E338B82}"/>
              </a:ext>
            </a:extLst>
          </p:cNvPr>
          <p:cNvCxnSpPr>
            <a:cxnSpLocks/>
          </p:cNvCxnSpPr>
          <p:nvPr/>
        </p:nvCxnSpPr>
        <p:spPr>
          <a:xfrm>
            <a:off x="9075717" y="2189499"/>
            <a:ext cx="0" cy="155064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43" name="Straight Arrow Connector 17442">
            <a:extLst>
              <a:ext uri="{FF2B5EF4-FFF2-40B4-BE49-F238E27FC236}">
                <a16:creationId xmlns:a16="http://schemas.microsoft.com/office/drawing/2014/main" id="{8FB0BBE7-664A-C455-6A7F-7CB5A4800BF6}"/>
              </a:ext>
            </a:extLst>
          </p:cNvPr>
          <p:cNvCxnSpPr>
            <a:cxnSpLocks/>
          </p:cNvCxnSpPr>
          <p:nvPr/>
        </p:nvCxnSpPr>
        <p:spPr>
          <a:xfrm>
            <a:off x="934608" y="1976284"/>
            <a:ext cx="0" cy="304465"/>
          </a:xfrm>
          <a:prstGeom prst="straightConnector1">
            <a:avLst/>
          </a:prstGeom>
          <a:ln w="19050" cap="flat" cmpd="sng" algn="ctr">
            <a:noFill/>
            <a:prstDash val="solid"/>
            <a:round/>
            <a:headEnd type="none" w="med" len="med"/>
            <a:tailEnd type="arrow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50" name="Straight Arrow Connector 17449">
            <a:extLst>
              <a:ext uri="{FF2B5EF4-FFF2-40B4-BE49-F238E27FC236}">
                <a16:creationId xmlns:a16="http://schemas.microsoft.com/office/drawing/2014/main" id="{CF5A7EF2-ED61-2753-D45E-49D29CA33563}"/>
              </a:ext>
            </a:extLst>
          </p:cNvPr>
          <p:cNvCxnSpPr>
            <a:cxnSpLocks/>
          </p:cNvCxnSpPr>
          <p:nvPr/>
        </p:nvCxnSpPr>
        <p:spPr>
          <a:xfrm flipH="1">
            <a:off x="2742135" y="2872568"/>
            <a:ext cx="9832" cy="22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451" name="Picture 4" descr="Google Earth Engine Frequently Asked Questions - Sanborn">
            <a:extLst>
              <a:ext uri="{FF2B5EF4-FFF2-40B4-BE49-F238E27FC236}">
                <a16:creationId xmlns:a16="http://schemas.microsoft.com/office/drawing/2014/main" id="{02614077-15B8-8536-9ABE-B9166FC1C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4" y="3739343"/>
            <a:ext cx="1402909" cy="112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2" name="Picture 6" descr="1. Introducing GEE and Geemap — Geospatial Data Science with Earth Engine  and Geemap">
            <a:extLst>
              <a:ext uri="{FF2B5EF4-FFF2-40B4-BE49-F238E27FC236}">
                <a16:creationId xmlns:a16="http://schemas.microsoft.com/office/drawing/2014/main" id="{6769E81C-3DB7-C515-E3EE-846603CB4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972" y="4863705"/>
            <a:ext cx="459761" cy="45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3" name="Picture 2" descr="Python (programming language) - Wikipedia">
            <a:extLst>
              <a:ext uri="{FF2B5EF4-FFF2-40B4-BE49-F238E27FC236}">
                <a16:creationId xmlns:a16="http://schemas.microsoft.com/office/drawing/2014/main" id="{7003ADBD-72C9-8932-8C95-FBEBD68D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93" y="5702720"/>
            <a:ext cx="788139" cy="5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4" name="Picture 12" descr="GitHub - numpy/numpy: The fundamental package for scientific computing with  Python.">
            <a:extLst>
              <a:ext uri="{FF2B5EF4-FFF2-40B4-BE49-F238E27FC236}">
                <a16:creationId xmlns:a16="http://schemas.microsoft.com/office/drawing/2014/main" id="{70167CC5-1764-1A22-CCC6-EDDAD992E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924" y="5107052"/>
            <a:ext cx="1168149" cy="33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5" name="Picture 10" descr="Rasterio: A Powerful Tool for Geospatial Raster Data - Geographic Book">
            <a:extLst>
              <a:ext uri="{FF2B5EF4-FFF2-40B4-BE49-F238E27FC236}">
                <a16:creationId xmlns:a16="http://schemas.microsoft.com/office/drawing/2014/main" id="{90CD2C80-3345-CA1B-1018-95572F0F1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66" y="4739597"/>
            <a:ext cx="867794" cy="70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6" name="Picture 8" descr="Using OpenCV-Python and Numpy Performing Operations on Images. | by  Akashkale | Medium">
            <a:extLst>
              <a:ext uri="{FF2B5EF4-FFF2-40B4-BE49-F238E27FC236}">
                <a16:creationId xmlns:a16="http://schemas.microsoft.com/office/drawing/2014/main" id="{DB13FBA3-5E49-59E5-9263-852192BDA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657" y="5509998"/>
            <a:ext cx="730994" cy="73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7" name="Picture 24">
            <a:extLst>
              <a:ext uri="{FF2B5EF4-FFF2-40B4-BE49-F238E27FC236}">
                <a16:creationId xmlns:a16="http://schemas.microsoft.com/office/drawing/2014/main" id="{66FC3BC0-0D65-DC83-6E6B-A7F82FA55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122" y="5640439"/>
            <a:ext cx="581600" cy="51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8" name="Picture 28" descr="PostgreSQL logo and symbol, meaning, history, PNG">
            <a:extLst>
              <a:ext uri="{FF2B5EF4-FFF2-40B4-BE49-F238E27FC236}">
                <a16:creationId xmlns:a16="http://schemas.microsoft.com/office/drawing/2014/main" id="{6B67DDBD-B6CA-E6FA-9FE4-50333F32A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754" y="5249016"/>
            <a:ext cx="1166935" cy="73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9" name="Picture 14" descr="GitHub - CesiumGS/cesium: An open-source JavaScript library for world-class  3D globes and maps :earth_americas:">
            <a:extLst>
              <a:ext uri="{FF2B5EF4-FFF2-40B4-BE49-F238E27FC236}">
                <a16:creationId xmlns:a16="http://schemas.microsoft.com/office/drawing/2014/main" id="{B99A5872-E862-A484-CABF-600358A0B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485" y="5971062"/>
            <a:ext cx="1116015" cy="33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0" name="Picture 22" descr="GeoJS | GeoJS · REST/JSON/JSONP GeoIP API">
            <a:extLst>
              <a:ext uri="{FF2B5EF4-FFF2-40B4-BE49-F238E27FC236}">
                <a16:creationId xmlns:a16="http://schemas.microsoft.com/office/drawing/2014/main" id="{B0A6F0A6-7399-030E-5944-C0697DFE0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827" y="5017216"/>
            <a:ext cx="1022967" cy="27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1" name="Picture 26" descr="PostGIS - Wikipedia">
            <a:extLst>
              <a:ext uri="{FF2B5EF4-FFF2-40B4-BE49-F238E27FC236}">
                <a16:creationId xmlns:a16="http://schemas.microsoft.com/office/drawing/2014/main" id="{2CAE10FB-5A30-5B01-3EC1-037C6ED4A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59" y="5625102"/>
            <a:ext cx="636918" cy="63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2" name="Picture 36" descr="Matplotlib">
            <a:extLst>
              <a:ext uri="{FF2B5EF4-FFF2-40B4-BE49-F238E27FC236}">
                <a16:creationId xmlns:a16="http://schemas.microsoft.com/office/drawing/2014/main" id="{D4DB27D6-E767-C7E3-2645-19328C2DC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508" y="5719574"/>
            <a:ext cx="610674" cy="61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3" name="Picture 38" descr="Plotly - Wikipedia">
            <a:extLst>
              <a:ext uri="{FF2B5EF4-FFF2-40B4-BE49-F238E27FC236}">
                <a16:creationId xmlns:a16="http://schemas.microsoft.com/office/drawing/2014/main" id="{BA1CE3B3-2919-69E0-86DB-A33F71598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813" y="5875314"/>
            <a:ext cx="1263984" cy="42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467" name="Straight Connector 17466">
            <a:extLst>
              <a:ext uri="{FF2B5EF4-FFF2-40B4-BE49-F238E27FC236}">
                <a16:creationId xmlns:a16="http://schemas.microsoft.com/office/drawing/2014/main" id="{79CB07C5-1BC4-2949-AEB4-442153FA2BF0}"/>
              </a:ext>
            </a:extLst>
          </p:cNvPr>
          <p:cNvCxnSpPr/>
          <p:nvPr/>
        </p:nvCxnSpPr>
        <p:spPr>
          <a:xfrm>
            <a:off x="6250200" y="4961190"/>
            <a:ext cx="0" cy="1369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69" name="Straight Connector 17468">
            <a:extLst>
              <a:ext uri="{FF2B5EF4-FFF2-40B4-BE49-F238E27FC236}">
                <a16:creationId xmlns:a16="http://schemas.microsoft.com/office/drawing/2014/main" id="{323BC90C-A501-DA73-177E-00D60D49CBF5}"/>
              </a:ext>
            </a:extLst>
          </p:cNvPr>
          <p:cNvCxnSpPr>
            <a:cxnSpLocks/>
          </p:cNvCxnSpPr>
          <p:nvPr/>
        </p:nvCxnSpPr>
        <p:spPr>
          <a:xfrm flipH="1">
            <a:off x="9839087" y="5134720"/>
            <a:ext cx="4558" cy="12513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BBD607A-477A-021C-5385-5AA995BC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74" y="3276812"/>
            <a:ext cx="579797" cy="41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ntinel-2A SatelliteSensor | Satellite Imaging Corp">
            <a:extLst>
              <a:ext uri="{FF2B5EF4-FFF2-40B4-BE49-F238E27FC236}">
                <a16:creationId xmlns:a16="http://schemas.microsoft.com/office/drawing/2014/main" id="{F1EF2599-60DD-26A7-D5E6-241EA156E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128" y="3365082"/>
            <a:ext cx="691259" cy="52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70" name="Flowchart: Punched Tape 17469">
            <a:extLst>
              <a:ext uri="{FF2B5EF4-FFF2-40B4-BE49-F238E27FC236}">
                <a16:creationId xmlns:a16="http://schemas.microsoft.com/office/drawing/2014/main" id="{CD6BC4F2-D9FA-FB9B-4D46-B45A99B9DB48}"/>
              </a:ext>
            </a:extLst>
          </p:cNvPr>
          <p:cNvSpPr/>
          <p:nvPr/>
        </p:nvSpPr>
        <p:spPr>
          <a:xfrm>
            <a:off x="1337658" y="1095283"/>
            <a:ext cx="691259" cy="232371"/>
          </a:xfrm>
          <a:prstGeom prst="flowChartPunchedTap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Input</a:t>
            </a:r>
          </a:p>
        </p:txBody>
      </p:sp>
      <p:sp>
        <p:nvSpPr>
          <p:cNvPr id="17471" name="Flowchart: Punched Tape 17470">
            <a:extLst>
              <a:ext uri="{FF2B5EF4-FFF2-40B4-BE49-F238E27FC236}">
                <a16:creationId xmlns:a16="http://schemas.microsoft.com/office/drawing/2014/main" id="{A9601522-329D-8E68-D9C4-50E78CD18BE4}"/>
              </a:ext>
            </a:extLst>
          </p:cNvPr>
          <p:cNvSpPr/>
          <p:nvPr/>
        </p:nvSpPr>
        <p:spPr>
          <a:xfrm>
            <a:off x="7436993" y="1055954"/>
            <a:ext cx="881097" cy="271700"/>
          </a:xfrm>
          <a:prstGeom prst="flowChartPunchedTap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Output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2F490BD5-5631-2302-66F5-908CF5695461}"/>
              </a:ext>
            </a:extLst>
          </p:cNvPr>
          <p:cNvCxnSpPr>
            <a:stCxn id="17471" idx="1"/>
            <a:endCxn id="12" idx="0"/>
          </p:cNvCxnSpPr>
          <p:nvPr/>
        </p:nvCxnSpPr>
        <p:spPr>
          <a:xfrm flipH="1">
            <a:off x="4924714" y="1191804"/>
            <a:ext cx="2512279" cy="395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B411B6BB-73B4-6866-0B8B-EFBC1DD60FFE}"/>
              </a:ext>
            </a:extLst>
          </p:cNvPr>
          <p:cNvCxnSpPr>
            <a:stCxn id="17471" idx="1"/>
            <a:endCxn id="13" idx="0"/>
          </p:cNvCxnSpPr>
          <p:nvPr/>
        </p:nvCxnSpPr>
        <p:spPr>
          <a:xfrm flipH="1">
            <a:off x="6802538" y="1191804"/>
            <a:ext cx="634455" cy="36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FCF82A02-E762-EE7E-91AA-DA37A6F860C2}"/>
              </a:ext>
            </a:extLst>
          </p:cNvPr>
          <p:cNvCxnSpPr>
            <a:cxnSpLocks/>
            <a:stCxn id="17471" idx="3"/>
            <a:endCxn id="14" idx="0"/>
          </p:cNvCxnSpPr>
          <p:nvPr/>
        </p:nvCxnSpPr>
        <p:spPr>
          <a:xfrm>
            <a:off x="8318090" y="1191804"/>
            <a:ext cx="2504589" cy="457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0B40BA26-3873-5AE0-069E-7D37D0D7A606}"/>
              </a:ext>
            </a:extLst>
          </p:cNvPr>
          <p:cNvCxnSpPr>
            <a:stCxn id="17470" idx="3"/>
            <a:endCxn id="4" idx="0"/>
          </p:cNvCxnSpPr>
          <p:nvPr/>
        </p:nvCxnSpPr>
        <p:spPr>
          <a:xfrm>
            <a:off x="2028917" y="1211469"/>
            <a:ext cx="800097" cy="416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2ED72267-113B-55E8-C59C-C2176BFD3EF1}"/>
              </a:ext>
            </a:extLst>
          </p:cNvPr>
          <p:cNvCxnSpPr>
            <a:stCxn id="17470" idx="1"/>
            <a:endCxn id="8" idx="0"/>
          </p:cNvCxnSpPr>
          <p:nvPr/>
        </p:nvCxnSpPr>
        <p:spPr>
          <a:xfrm flipH="1">
            <a:off x="934066" y="1211469"/>
            <a:ext cx="403592" cy="425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04E7C09F-207A-C143-CB00-2977322B09E8}"/>
              </a:ext>
            </a:extLst>
          </p:cNvPr>
          <p:cNvCxnSpPr>
            <a:cxnSpLocks/>
          </p:cNvCxnSpPr>
          <p:nvPr/>
        </p:nvCxnSpPr>
        <p:spPr>
          <a:xfrm>
            <a:off x="4955615" y="2104063"/>
            <a:ext cx="783689" cy="692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0981FC6C-4F43-B05F-3AEF-7B80F9849E04}"/>
              </a:ext>
            </a:extLst>
          </p:cNvPr>
          <p:cNvCxnSpPr>
            <a:stCxn id="12" idx="2"/>
            <a:endCxn id="21" idx="0"/>
          </p:cNvCxnSpPr>
          <p:nvPr/>
        </p:nvCxnSpPr>
        <p:spPr>
          <a:xfrm flipH="1">
            <a:off x="4070645" y="2090900"/>
            <a:ext cx="854069" cy="674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8A879CF-1025-97DA-7AD0-CEF917E0C458}"/>
              </a:ext>
            </a:extLst>
          </p:cNvPr>
          <p:cNvSpPr/>
          <p:nvPr/>
        </p:nvSpPr>
        <p:spPr>
          <a:xfrm>
            <a:off x="239203" y="4912873"/>
            <a:ext cx="3483169" cy="12800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400">
                <a:solidFill>
                  <a:schemeClr val="tx1"/>
                </a:solidFill>
              </a:rPr>
              <a:t>Integration of AI+3D visualization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400">
                <a:solidFill>
                  <a:schemeClr val="tx1"/>
                </a:solidFill>
              </a:rPr>
              <a:t>Automated GeoJSON overlay for real-time mapping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400">
                <a:solidFill>
                  <a:schemeClr val="tx1"/>
                </a:solidFill>
              </a:rPr>
              <a:t>End to end web deployment(React+Flask+ML+PostGIS)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400">
                <a:solidFill>
                  <a:schemeClr val="tx1"/>
                </a:solidFill>
              </a:rPr>
              <a:t>Free and open source </a:t>
            </a:r>
          </a:p>
        </p:txBody>
      </p: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B495E919-E9E8-9B1C-50CD-D35EB1F2FCFB}"/>
              </a:ext>
            </a:extLst>
          </p:cNvPr>
          <p:cNvCxnSpPr/>
          <p:nvPr/>
        </p:nvCxnSpPr>
        <p:spPr>
          <a:xfrm>
            <a:off x="11652947" y="2821912"/>
            <a:ext cx="0" cy="4596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FFF51C5A-F61F-9D2F-2425-50B51D8A5C81}"/>
              </a:ext>
            </a:extLst>
          </p:cNvPr>
          <p:cNvCxnSpPr>
            <a:cxnSpLocks/>
          </p:cNvCxnSpPr>
          <p:nvPr/>
        </p:nvCxnSpPr>
        <p:spPr>
          <a:xfrm>
            <a:off x="11745372" y="4545157"/>
            <a:ext cx="0" cy="44399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A8E753-827B-70D5-ED39-ECB6A31200BA}"/>
              </a:ext>
            </a:extLst>
          </p:cNvPr>
          <p:cNvCxnSpPr>
            <a:cxnSpLocks/>
          </p:cNvCxnSpPr>
          <p:nvPr/>
        </p:nvCxnSpPr>
        <p:spPr>
          <a:xfrm>
            <a:off x="913554" y="1965388"/>
            <a:ext cx="0" cy="3945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5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9963" y="1634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Planet watch AI </a:t>
            </a:r>
            <a:endParaRPr lang="en-IN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AC89FD1-A413-1A6B-5E46-18D4D42D8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2712"/>
              </p:ext>
            </p:extLst>
          </p:nvPr>
        </p:nvGraphicFramePr>
        <p:xfrm>
          <a:off x="141514" y="1032503"/>
          <a:ext cx="2740990" cy="407384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0495">
                  <a:extLst>
                    <a:ext uri="{9D8B030D-6E8A-4147-A177-3AD203B41FA5}">
                      <a16:colId xmlns:a16="http://schemas.microsoft.com/office/drawing/2014/main" val="3174629531"/>
                    </a:ext>
                  </a:extLst>
                </a:gridCol>
                <a:gridCol w="1370495">
                  <a:extLst>
                    <a:ext uri="{9D8B030D-6E8A-4147-A177-3AD203B41FA5}">
                      <a16:colId xmlns:a16="http://schemas.microsoft.com/office/drawing/2014/main" val="4092563889"/>
                    </a:ext>
                  </a:extLst>
                </a:gridCol>
              </a:tblGrid>
              <a:tr h="5991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/>
                        <a:t>Challenges</a:t>
                      </a:r>
                      <a:endParaRPr lang="en-IN" sz="160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/>
                        <a:t>Solution</a:t>
                      </a:r>
                      <a:endParaRPr lang="en-IN" sz="16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84049"/>
                  </a:ext>
                </a:extLst>
              </a:tr>
              <a:tr h="489883">
                <a:tc>
                  <a:txBody>
                    <a:bodyPr/>
                    <a:lstStyle/>
                    <a:p>
                      <a:r>
                        <a:rPr lang="en-US" sz="1200"/>
                        <a:t>Low satellite image clarity due to whether or clouds  </a:t>
                      </a:r>
                      <a:endParaRPr lang="en-IN" sz="12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Combine SAR + optical data for all-weather and night-time visibility.</a:t>
                      </a:r>
                      <a:endParaRPr lang="en-IN" sz="12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21708"/>
                  </a:ext>
                </a:extLst>
              </a:tr>
              <a:tr h="662925">
                <a:tc>
                  <a:txBody>
                    <a:bodyPr/>
                    <a:lstStyle/>
                    <a:p>
                      <a:r>
                        <a:rPr lang="en-US" sz="1200"/>
                        <a:t>Misidentifying natural land as mining zones</a:t>
                      </a:r>
                      <a:endParaRPr lang="en-IN" sz="12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 AI with multi-spectral and elevation filters to improve precision.</a:t>
                      </a:r>
                      <a:endParaRPr lang="en-IN" sz="12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78405"/>
                  </a:ext>
                </a:extLst>
              </a:tr>
              <a:tr h="662925">
                <a:tc>
                  <a:txBody>
                    <a:bodyPr/>
                    <a:lstStyle/>
                    <a:p>
                      <a:r>
                        <a:rPr lang="en-US" sz="1200"/>
                        <a:t>Slow processing of large image datasets</a:t>
                      </a:r>
                      <a:endParaRPr lang="en-IN" sz="12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Implement cloud-based AI pipelines for faster and scalable analysis.</a:t>
                      </a:r>
                      <a:endParaRPr lang="en-IN" sz="12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915596"/>
                  </a:ext>
                </a:extLst>
              </a:tr>
              <a:tr h="662925">
                <a:tc>
                  <a:txBody>
                    <a:bodyPr/>
                    <a:lstStyle/>
                    <a:p>
                      <a:r>
                        <a:rPr lang="en-US" sz="1200"/>
                        <a:t>Limited connectivity in remote mining areas</a:t>
                      </a:r>
                      <a:endParaRPr lang="en-IN" sz="120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 edge computing to analyze data offline and sync automatically later.</a:t>
                      </a:r>
                      <a:endParaRPr lang="en-IN" sz="12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03748"/>
                  </a:ext>
                </a:extLst>
              </a:tr>
            </a:tbl>
          </a:graphicData>
        </a:graphic>
      </p:graphicFrame>
      <p:sp>
        <p:nvSpPr>
          <p:cNvPr id="37" name="Hexagon 36">
            <a:extLst>
              <a:ext uri="{FF2B5EF4-FFF2-40B4-BE49-F238E27FC236}">
                <a16:creationId xmlns:a16="http://schemas.microsoft.com/office/drawing/2014/main" id="{DFA50DD2-B47B-AC89-26A6-F56ED51F813A}"/>
              </a:ext>
            </a:extLst>
          </p:cNvPr>
          <p:cNvSpPr/>
          <p:nvPr/>
        </p:nvSpPr>
        <p:spPr>
          <a:xfrm>
            <a:off x="4896034" y="2359994"/>
            <a:ext cx="1887612" cy="731206"/>
          </a:xfrm>
          <a:prstGeom prst="hexagon">
            <a:avLst/>
          </a:prstGeom>
          <a:solidFill>
            <a:schemeClr val="accent6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Feasibility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A16D50-5148-B509-196C-ED5EF8424962}"/>
              </a:ext>
            </a:extLst>
          </p:cNvPr>
          <p:cNvSpPr/>
          <p:nvPr/>
        </p:nvSpPr>
        <p:spPr>
          <a:xfrm>
            <a:off x="5955149" y="3300827"/>
            <a:ext cx="2647778" cy="10398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/>
              <a:t>Market Feasibility - Targets government, environmental, and mining sectors for sustainable monitoring. Supports Digital Earth &amp; ESG goals, ensuring transparency and strong adoption potential.</a:t>
            </a:r>
            <a:endParaRPr lang="en-IN" sz="10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464E83-F733-E77E-1F3A-3A2C17D5698B}"/>
              </a:ext>
            </a:extLst>
          </p:cNvPr>
          <p:cNvSpPr/>
          <p:nvPr/>
        </p:nvSpPr>
        <p:spPr>
          <a:xfrm>
            <a:off x="5983754" y="1142877"/>
            <a:ext cx="2641223" cy="100749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/>
              <a:t>Technical Feasibility - Integration of satellite (optical &amp; SAR), UAV, and LiDAR enables accurate detection and 3D mapping.ML and GIS tools automate analysis using open APIs like Sentinel Hub and Google Earth Engine.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16DE8D-89B7-2325-9443-EF598F92D304}"/>
              </a:ext>
            </a:extLst>
          </p:cNvPr>
          <p:cNvSpPr/>
          <p:nvPr/>
        </p:nvSpPr>
        <p:spPr>
          <a:xfrm>
            <a:off x="3064572" y="3307615"/>
            <a:ext cx="2545978" cy="102678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/>
              <a:t>Operational Feasibility - Requires drone deployment, data processing setup, and trained staff for efficient monitoring .Easily integrates with existing GIS systems and local authorities for real-time updates.</a:t>
            </a:r>
            <a:endParaRPr lang="en-IN" sz="11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2D0FBF-63E4-FFE5-61A0-81F24FED0BD4}"/>
              </a:ext>
            </a:extLst>
          </p:cNvPr>
          <p:cNvSpPr/>
          <p:nvPr/>
        </p:nvSpPr>
        <p:spPr>
          <a:xfrm>
            <a:off x="3084096" y="1134078"/>
            <a:ext cx="2545978" cy="102678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/>
              <a:t>Financial Feasibility - Uses free satellite data for low-cost prototyping and affordable scalability. Cloud tools and government grants make it financially sustainable long term</a:t>
            </a:r>
            <a:endParaRPr lang="en-IN" sz="110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F6A5B31B-5233-EF0F-4A05-25BB4AB3F1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744825"/>
              </p:ext>
            </p:extLst>
          </p:nvPr>
        </p:nvGraphicFramePr>
        <p:xfrm>
          <a:off x="8956607" y="1732089"/>
          <a:ext cx="3096686" cy="2415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0" name="Hexagon 49">
            <a:extLst>
              <a:ext uri="{FF2B5EF4-FFF2-40B4-BE49-F238E27FC236}">
                <a16:creationId xmlns:a16="http://schemas.microsoft.com/office/drawing/2014/main" id="{71277F2C-9190-06F6-B43C-0F1211813BDC}"/>
              </a:ext>
            </a:extLst>
          </p:cNvPr>
          <p:cNvSpPr/>
          <p:nvPr/>
        </p:nvSpPr>
        <p:spPr>
          <a:xfrm>
            <a:off x="9280003" y="1188641"/>
            <a:ext cx="1806105" cy="511534"/>
          </a:xfrm>
          <a:prstGeom prst="hexagon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Viability</a:t>
            </a:r>
            <a:endParaRPr lang="en-IN" sz="2000" b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2400A9E-A363-C761-3A28-C2DF447AAE9F}"/>
              </a:ext>
            </a:extLst>
          </p:cNvPr>
          <p:cNvSpPr/>
          <p:nvPr/>
        </p:nvSpPr>
        <p:spPr>
          <a:xfrm>
            <a:off x="715171" y="5211762"/>
            <a:ext cx="1903596" cy="3989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Cost Efficient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86CA91F-51F0-1831-DF91-390B6B020649}"/>
              </a:ext>
            </a:extLst>
          </p:cNvPr>
          <p:cNvSpPr/>
          <p:nvPr/>
        </p:nvSpPr>
        <p:spPr>
          <a:xfrm>
            <a:off x="3570565" y="5253928"/>
            <a:ext cx="1994207" cy="369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Eco Impact 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439B6DF-BDF2-3563-DA05-2E42F02CA8D6}"/>
              </a:ext>
            </a:extLst>
          </p:cNvPr>
          <p:cNvSpPr/>
          <p:nvPr/>
        </p:nvSpPr>
        <p:spPr>
          <a:xfrm>
            <a:off x="4833660" y="5795329"/>
            <a:ext cx="2012360" cy="3989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Transparency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676123A-9F8D-EE0A-1CAF-CC79BB54222C}"/>
              </a:ext>
            </a:extLst>
          </p:cNvPr>
          <p:cNvSpPr/>
          <p:nvPr/>
        </p:nvSpPr>
        <p:spPr>
          <a:xfrm>
            <a:off x="1666969" y="5779017"/>
            <a:ext cx="1903596" cy="3989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Scalability </a:t>
            </a:r>
          </a:p>
        </p:txBody>
      </p:sp>
      <p:cxnSp>
        <p:nvCxnSpPr>
          <p:cNvPr id="2048" name="Straight Arrow Connector 2047">
            <a:extLst>
              <a:ext uri="{FF2B5EF4-FFF2-40B4-BE49-F238E27FC236}">
                <a16:creationId xmlns:a16="http://schemas.microsoft.com/office/drawing/2014/main" id="{623A683D-AF38-AEB4-5F92-7D19AAC7241D}"/>
              </a:ext>
            </a:extLst>
          </p:cNvPr>
          <p:cNvCxnSpPr/>
          <p:nvPr/>
        </p:nvCxnSpPr>
        <p:spPr>
          <a:xfrm>
            <a:off x="135157" y="5411247"/>
            <a:ext cx="54240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9" name="Straight Arrow Connector 2048">
            <a:extLst>
              <a:ext uri="{FF2B5EF4-FFF2-40B4-BE49-F238E27FC236}">
                <a16:creationId xmlns:a16="http://schemas.microsoft.com/office/drawing/2014/main" id="{F358D69C-7344-02D3-6EF7-03D518E55701}"/>
              </a:ext>
            </a:extLst>
          </p:cNvPr>
          <p:cNvCxnSpPr/>
          <p:nvPr/>
        </p:nvCxnSpPr>
        <p:spPr>
          <a:xfrm>
            <a:off x="2985137" y="5438594"/>
            <a:ext cx="54240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1" name="Straight Arrow Connector 2050">
            <a:extLst>
              <a:ext uri="{FF2B5EF4-FFF2-40B4-BE49-F238E27FC236}">
                <a16:creationId xmlns:a16="http://schemas.microsoft.com/office/drawing/2014/main" id="{F61504B4-681D-FC42-8B9D-A7AEF9FBC648}"/>
              </a:ext>
            </a:extLst>
          </p:cNvPr>
          <p:cNvCxnSpPr/>
          <p:nvPr/>
        </p:nvCxnSpPr>
        <p:spPr>
          <a:xfrm>
            <a:off x="1105892" y="5978502"/>
            <a:ext cx="54240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2" name="Straight Arrow Connector 2051">
            <a:extLst>
              <a:ext uri="{FF2B5EF4-FFF2-40B4-BE49-F238E27FC236}">
                <a16:creationId xmlns:a16="http://schemas.microsoft.com/office/drawing/2014/main" id="{444BA84C-ABA4-A704-076E-1214D7AACCF8}"/>
              </a:ext>
            </a:extLst>
          </p:cNvPr>
          <p:cNvCxnSpPr/>
          <p:nvPr/>
        </p:nvCxnSpPr>
        <p:spPr>
          <a:xfrm>
            <a:off x="4277790" y="5984982"/>
            <a:ext cx="54240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A293E94-9586-2822-E337-C5023575502A}"/>
              </a:ext>
            </a:extLst>
          </p:cNvPr>
          <p:cNvSpPr/>
          <p:nvPr/>
        </p:nvSpPr>
        <p:spPr>
          <a:xfrm>
            <a:off x="7380479" y="4501105"/>
            <a:ext cx="3954243" cy="17866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DA9856-0D0F-2D09-74BC-EF4B6BF4A9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7837" y="4324480"/>
            <a:ext cx="3954243" cy="2240705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1C927057-DA4E-2390-744A-242933612A22}"/>
              </a:ext>
            </a:extLst>
          </p:cNvPr>
          <p:cNvSpPr/>
          <p:nvPr/>
        </p:nvSpPr>
        <p:spPr>
          <a:xfrm rot="16200000">
            <a:off x="5737717" y="1706516"/>
            <a:ext cx="204245" cy="111628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B6341B67-E143-F125-68E0-4102A5F41D5D}"/>
              </a:ext>
            </a:extLst>
          </p:cNvPr>
          <p:cNvSpPr/>
          <p:nvPr/>
        </p:nvSpPr>
        <p:spPr>
          <a:xfrm rot="5400000">
            <a:off x="5770221" y="2643913"/>
            <a:ext cx="204245" cy="111628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6550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5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2325" y="5709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Planet Watch AI</a:t>
            </a:r>
            <a:endParaRPr lang="en-IN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8CE460B6-6B34-7C74-6B56-CC52D19F1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8865762"/>
              </p:ext>
            </p:extLst>
          </p:nvPr>
        </p:nvGraphicFramePr>
        <p:xfrm>
          <a:off x="1837265" y="1908132"/>
          <a:ext cx="1427041" cy="8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4" name="Picture 4" descr="Free Curved Arrow SVG, PNG Icon, Symbol. Download Image.">
            <a:extLst>
              <a:ext uri="{FF2B5EF4-FFF2-40B4-BE49-F238E27FC236}">
                <a16:creationId xmlns:a16="http://schemas.microsoft.com/office/drawing/2014/main" id="{7A15D737-DDF9-7711-4008-F9A9D0FAA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6622" flipH="1">
            <a:off x="2853126" y="939284"/>
            <a:ext cx="778714" cy="63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1" name="Diagram 1030">
            <a:extLst>
              <a:ext uri="{FF2B5EF4-FFF2-40B4-BE49-F238E27FC236}">
                <a16:creationId xmlns:a16="http://schemas.microsoft.com/office/drawing/2014/main" id="{8EC13B61-BE5B-B385-C2FC-163ECF3DB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305053"/>
              </p:ext>
            </p:extLst>
          </p:nvPr>
        </p:nvGraphicFramePr>
        <p:xfrm>
          <a:off x="7017403" y="1567970"/>
          <a:ext cx="4496172" cy="683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A3B689E-BCAC-2FC7-80A3-D27A32C56B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209199"/>
              </p:ext>
            </p:extLst>
          </p:nvPr>
        </p:nvGraphicFramePr>
        <p:xfrm>
          <a:off x="7169803" y="1720370"/>
          <a:ext cx="4496172" cy="683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A25A9868-D809-173A-4578-5F020D392979}"/>
              </a:ext>
            </a:extLst>
          </p:cNvPr>
          <p:cNvSpPr/>
          <p:nvPr/>
        </p:nvSpPr>
        <p:spPr>
          <a:xfrm>
            <a:off x="9156647" y="3168103"/>
            <a:ext cx="1365980" cy="255920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Benefits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DB681-E065-B8B5-2CAA-11A404ECCD3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2726" y="927598"/>
            <a:ext cx="3097449" cy="2913348"/>
          </a:xfrm>
          <a:prstGeom prst="rect">
            <a:avLst/>
          </a:prstGeom>
        </p:spPr>
      </p:pic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C9A0BCE4-C258-8F94-114E-29CB12DCD769}"/>
              </a:ext>
            </a:extLst>
          </p:cNvPr>
          <p:cNvSpPr/>
          <p:nvPr/>
        </p:nvSpPr>
        <p:spPr>
          <a:xfrm>
            <a:off x="8333642" y="3746634"/>
            <a:ext cx="2973574" cy="526671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Saves time and cost</a:t>
            </a:r>
          </a:p>
          <a:p>
            <a:r>
              <a:rPr lang="en-US" sz="1400">
                <a:solidFill>
                  <a:schemeClr val="tx1"/>
                </a:solidFill>
              </a:rPr>
              <a:t>No need for manual inspection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B17D8D-B2B1-07D2-D73B-5A8803FC6983}"/>
              </a:ext>
            </a:extLst>
          </p:cNvPr>
          <p:cNvSpPr/>
          <p:nvPr/>
        </p:nvSpPr>
        <p:spPr>
          <a:xfrm>
            <a:off x="11022081" y="3755730"/>
            <a:ext cx="536152" cy="542323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9" name="Picture 4" descr="Free Curved Arrow SVG, PNG Icon, Symbol. Download Image.">
            <a:extLst>
              <a:ext uri="{FF2B5EF4-FFF2-40B4-BE49-F238E27FC236}">
                <a16:creationId xmlns:a16="http://schemas.microsoft.com/office/drawing/2014/main" id="{297117C3-FAB0-D658-580E-C45E86F25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01089" flipH="1">
            <a:off x="2825565" y="2352277"/>
            <a:ext cx="814276" cy="66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54AFFC43-5899-564E-F9F2-05D7335194E1}"/>
              </a:ext>
            </a:extLst>
          </p:cNvPr>
          <p:cNvSpPr/>
          <p:nvPr/>
        </p:nvSpPr>
        <p:spPr>
          <a:xfrm>
            <a:off x="2580178" y="1654564"/>
            <a:ext cx="1274187" cy="6622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n>
                  <a:solidFill>
                    <a:schemeClr val="accent1">
                      <a:lumMod val="50000"/>
                    </a:schemeClr>
                  </a:solidFill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Impact </a:t>
            </a:r>
            <a:endParaRPr lang="en-IN">
              <a:ln>
                <a:solidFill>
                  <a:schemeClr val="accent1">
                    <a:lumMod val="50000"/>
                  </a:schemeClr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BB90855-6993-6F80-9D28-0C0127E6F3AE}"/>
              </a:ext>
            </a:extLst>
          </p:cNvPr>
          <p:cNvSpPr/>
          <p:nvPr/>
        </p:nvSpPr>
        <p:spPr>
          <a:xfrm>
            <a:off x="3707341" y="1135684"/>
            <a:ext cx="2438998" cy="544463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Transparency : 3D visuals and live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 alerts give clear updates  to both 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government and citizens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5C14847-0498-D73C-C61E-49431BB0CCC4}"/>
              </a:ext>
            </a:extLst>
          </p:cNvPr>
          <p:cNvSpPr/>
          <p:nvPr/>
        </p:nvSpPr>
        <p:spPr>
          <a:xfrm>
            <a:off x="265204" y="2342478"/>
            <a:ext cx="2444606" cy="54446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Environment  Protection: Reduce deforestation, soil loss &amp; water pollution through continuous monitoring</a:t>
            </a:r>
            <a:endParaRPr lang="en-IN" sz="1050">
              <a:solidFill>
                <a:schemeClr val="tx1"/>
              </a:solidFill>
            </a:endParaRPr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BAB1D48D-245C-D8C2-3A73-EE4E882414D1}"/>
              </a:ext>
            </a:extLst>
          </p:cNvPr>
          <p:cNvSpPr/>
          <p:nvPr/>
        </p:nvSpPr>
        <p:spPr>
          <a:xfrm>
            <a:off x="294023" y="1124788"/>
            <a:ext cx="2453028" cy="54446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Early Detection: Satellite &amp; AI quickly find Illegal mining, prevent environment harm   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57A7FD16-3D89-3F2F-E724-06FDEE87AF6D}"/>
              </a:ext>
            </a:extLst>
          </p:cNvPr>
          <p:cNvSpPr/>
          <p:nvPr/>
        </p:nvSpPr>
        <p:spPr>
          <a:xfrm>
            <a:off x="3741446" y="2284933"/>
            <a:ext cx="2444606" cy="544463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150">
                <a:solidFill>
                  <a:schemeClr val="tx1"/>
                </a:solidFill>
              </a:rPr>
              <a:t>Sustainable development: Encourages responsible  mining and support a cleaner greener future</a:t>
            </a:r>
            <a:endParaRPr lang="en-IN" sz="1150">
              <a:solidFill>
                <a:schemeClr val="tx1"/>
              </a:solidFill>
            </a:endParaRPr>
          </a:p>
        </p:txBody>
      </p:sp>
      <p:pic>
        <p:nvPicPr>
          <p:cNvPr id="1027" name="Picture 2" descr="Free Curved Arrow SVG, PNG Icon, Symbol. Download Image.">
            <a:extLst>
              <a:ext uri="{FF2B5EF4-FFF2-40B4-BE49-F238E27FC236}">
                <a16:creationId xmlns:a16="http://schemas.microsoft.com/office/drawing/2014/main" id="{E8B18CA6-3214-F04A-3ABD-6B97E2384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25283" flipV="1">
            <a:off x="4463253" y="1770743"/>
            <a:ext cx="512817" cy="52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2" descr="Free Curved Arrow SVG, PNG Icon, Symbol. Download Image.">
            <a:extLst>
              <a:ext uri="{FF2B5EF4-FFF2-40B4-BE49-F238E27FC236}">
                <a16:creationId xmlns:a16="http://schemas.microsoft.com/office/drawing/2014/main" id="{2D567882-6786-53DC-389E-EE0520F5E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72621" flipV="1">
            <a:off x="1466265" y="1732206"/>
            <a:ext cx="512817" cy="52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8AB26249-99A7-D22F-35AD-AF46DDC2B185}"/>
              </a:ext>
            </a:extLst>
          </p:cNvPr>
          <p:cNvSpPr txBox="1"/>
          <p:nvPr/>
        </p:nvSpPr>
        <p:spPr>
          <a:xfrm>
            <a:off x="6831853" y="603331"/>
            <a:ext cx="6096000" cy="60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1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IMPACT DONUT CHART</a:t>
            </a:r>
          </a:p>
        </p:txBody>
      </p:sp>
      <p:graphicFrame>
        <p:nvGraphicFramePr>
          <p:cNvPr id="1035" name="Table 1034">
            <a:extLst>
              <a:ext uri="{FF2B5EF4-FFF2-40B4-BE49-F238E27FC236}">
                <a16:creationId xmlns:a16="http://schemas.microsoft.com/office/drawing/2014/main" id="{8EBD41A8-7CA0-4977-CB48-A70C1E0F2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367633"/>
              </p:ext>
            </p:extLst>
          </p:nvPr>
        </p:nvGraphicFramePr>
        <p:xfrm>
          <a:off x="351233" y="3419405"/>
          <a:ext cx="6828431" cy="28395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1501">
                  <a:extLst>
                    <a:ext uri="{9D8B030D-6E8A-4147-A177-3AD203B41FA5}">
                      <a16:colId xmlns:a16="http://schemas.microsoft.com/office/drawing/2014/main" val="1876779589"/>
                    </a:ext>
                  </a:extLst>
                </a:gridCol>
                <a:gridCol w="3426930">
                  <a:extLst>
                    <a:ext uri="{9D8B030D-6E8A-4147-A177-3AD203B41FA5}">
                      <a16:colId xmlns:a16="http://schemas.microsoft.com/office/drawing/2014/main" val="17840765"/>
                    </a:ext>
                  </a:extLst>
                </a:gridCol>
              </a:tblGrid>
              <a:tr h="852529">
                <a:tc>
                  <a:txBody>
                    <a:bodyPr/>
                    <a:lstStyle/>
                    <a:p>
                      <a:r>
                        <a:rPr lang="en-US" sz="1100"/>
                        <a:t>We overcome cloudy weather by </a:t>
                      </a:r>
                    </a:p>
                    <a:p>
                      <a:r>
                        <a:rPr lang="en-US" sz="1100"/>
                        <a:t>Using SAR (Synthetic Aperture Radar)</a:t>
                      </a:r>
                    </a:p>
                    <a:p>
                      <a:r>
                        <a:rPr lang="en-US" sz="1100"/>
                        <a:t>imagery that captures clear visuals </a:t>
                      </a:r>
                    </a:p>
                    <a:p>
                      <a:r>
                        <a:rPr lang="en-US" sz="1100"/>
                        <a:t>even through clouds and </a:t>
                      </a:r>
                    </a:p>
                    <a:p>
                      <a:r>
                        <a:rPr lang="en-US" sz="1100"/>
                        <a:t>darkness.</a:t>
                      </a:r>
                      <a:endParaRPr lang="en-IN" sz="110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 enhance reliability with an AI</a:t>
                      </a:r>
                    </a:p>
                    <a:p>
                      <a:r>
                        <a:rPr lang="en-US" sz="1100"/>
                        <a:t>confidence meter that transparently</a:t>
                      </a:r>
                    </a:p>
                    <a:p>
                      <a:r>
                        <a:rPr lang="en-US" sz="1100"/>
                        <a:t>displays detection accuracy levels.</a:t>
                      </a:r>
                      <a:endParaRPr lang="en-IN" sz="11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297427"/>
                  </a:ext>
                </a:extLst>
              </a:tr>
              <a:tr h="813764">
                <a:tc>
                  <a:txBody>
                    <a:bodyPr/>
                    <a:lstStyle/>
                    <a:p>
                      <a:r>
                        <a:rPr lang="en-US" sz="1100"/>
                        <a:t>We handle massive data loads </a:t>
                      </a:r>
                    </a:p>
                    <a:p>
                      <a:r>
                        <a:rPr lang="en-US" sz="1100"/>
                        <a:t>through cloud-based AI</a:t>
                      </a:r>
                    </a:p>
                    <a:p>
                      <a:r>
                        <a:rPr lang="en-US" sz="1100"/>
                        <a:t> pipelines that ensure fast </a:t>
                      </a:r>
                    </a:p>
                    <a:p>
                      <a:r>
                        <a:rPr lang="en-US" sz="1100"/>
                        <a:t>and scalable processing.</a:t>
                      </a:r>
                      <a:endParaRPr lang="en-IN" sz="11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 reduce costs by leveraging </a:t>
                      </a:r>
                    </a:p>
                    <a:p>
                      <a:r>
                        <a:rPr lang="en-US" sz="1100"/>
                        <a:t>open-source satellite APIs like </a:t>
                      </a:r>
                    </a:p>
                    <a:p>
                      <a:r>
                        <a:rPr lang="en-US" sz="1100"/>
                        <a:t>Sentinel Hub and Google Earth</a:t>
                      </a:r>
                    </a:p>
                    <a:p>
                      <a:r>
                        <a:rPr lang="en-US" sz="1100"/>
                        <a:t>Engine.</a:t>
                      </a:r>
                      <a:endParaRPr lang="en-IN" sz="110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62968"/>
                  </a:ext>
                </a:extLst>
              </a:tr>
              <a:tr h="1096110">
                <a:tc>
                  <a:txBody>
                    <a:bodyPr/>
                    <a:lstStyle/>
                    <a:p>
                      <a:r>
                        <a:rPr lang="en-US" sz="1100"/>
                        <a:t>We address low-network challenges </a:t>
                      </a:r>
                    </a:p>
                    <a:p>
                      <a:r>
                        <a:rPr lang="en-US" sz="1100"/>
                        <a:t>using edge computing, allowing </a:t>
                      </a:r>
                    </a:p>
                    <a:p>
                      <a:r>
                        <a:rPr lang="en-US" sz="1100"/>
                        <a:t>offline analysis and automatic </a:t>
                      </a:r>
                    </a:p>
                    <a:p>
                      <a:r>
                        <a:rPr lang="en-US" sz="1100"/>
                        <a:t>data syncing.</a:t>
                      </a:r>
                      <a:endParaRPr lang="en-IN" sz="110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 empower sustainability by </a:t>
                      </a:r>
                    </a:p>
                    <a:p>
                      <a:r>
                        <a:rPr lang="en-US" sz="1100"/>
                        <a:t>building 3D visualizations and </a:t>
                      </a:r>
                    </a:p>
                    <a:p>
                      <a:r>
                        <a:rPr lang="en-US" sz="1100"/>
                        <a:t>Green Score dashboards that </a:t>
                      </a:r>
                    </a:p>
                    <a:p>
                      <a:r>
                        <a:rPr lang="en-US" sz="1100"/>
                        <a:t>promote eco-friendly monitoring</a:t>
                      </a:r>
                    </a:p>
                    <a:p>
                      <a:endParaRPr lang="en-IN" sz="110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87938"/>
                  </a:ext>
                </a:extLst>
              </a:tr>
            </a:tbl>
          </a:graphicData>
        </a:graphic>
      </p:graphicFrame>
      <p:pic>
        <p:nvPicPr>
          <p:cNvPr id="1038" name="Picture 1037" descr="Clouds above the water&#10;&#10;AI-generated content may be incorrect.">
            <a:extLst>
              <a:ext uri="{FF2B5EF4-FFF2-40B4-BE49-F238E27FC236}">
                <a16:creationId xmlns:a16="http://schemas.microsoft.com/office/drawing/2014/main" id="{1FF45117-B9E6-71EB-9707-5970DABB47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7051" y="3460436"/>
            <a:ext cx="947404" cy="808724"/>
          </a:xfrm>
          <a:prstGeom prst="rect">
            <a:avLst/>
          </a:prstGeom>
        </p:spPr>
      </p:pic>
      <p:pic>
        <p:nvPicPr>
          <p:cNvPr id="1040" name="Picture 1039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600E18F6-E102-78AE-F643-19777FF340C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13110" y="4405765"/>
            <a:ext cx="1451861" cy="699828"/>
          </a:xfrm>
          <a:prstGeom prst="rect">
            <a:avLst/>
          </a:prstGeom>
        </p:spPr>
      </p:pic>
      <p:pic>
        <p:nvPicPr>
          <p:cNvPr id="1042" name="Picture 1041" descr="A wifi symbol with a black dot&#10;&#10;AI-generated content may be incorrect.">
            <a:extLst>
              <a:ext uri="{FF2B5EF4-FFF2-40B4-BE49-F238E27FC236}">
                <a16:creationId xmlns:a16="http://schemas.microsoft.com/office/drawing/2014/main" id="{F3402494-267A-33FB-082E-AC9F4A23528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66159" y="5310466"/>
            <a:ext cx="1122896" cy="810545"/>
          </a:xfrm>
          <a:prstGeom prst="rect">
            <a:avLst/>
          </a:prstGeom>
        </p:spPr>
      </p:pic>
      <p:pic>
        <p:nvPicPr>
          <p:cNvPr id="1048" name="Picture 1047" descr="A satellite view of a mountain range&#10;&#10;AI-generated content may be incorrect.">
            <a:extLst>
              <a:ext uri="{FF2B5EF4-FFF2-40B4-BE49-F238E27FC236}">
                <a16:creationId xmlns:a16="http://schemas.microsoft.com/office/drawing/2014/main" id="{8724C9B3-315C-8498-DB97-52166B91A31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33343" y="5263412"/>
            <a:ext cx="1143052" cy="907298"/>
          </a:xfrm>
          <a:prstGeom prst="rect">
            <a:avLst/>
          </a:prstGeom>
        </p:spPr>
      </p:pic>
      <p:pic>
        <p:nvPicPr>
          <p:cNvPr id="1050" name="Picture 1049" descr="A graph of a bar chart&#10;&#10;AI-generated content may be incorrect.">
            <a:extLst>
              <a:ext uri="{FF2B5EF4-FFF2-40B4-BE49-F238E27FC236}">
                <a16:creationId xmlns:a16="http://schemas.microsoft.com/office/drawing/2014/main" id="{DED80F88-9814-470A-33D9-72BC2F660FD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95585" y="3477937"/>
            <a:ext cx="1143052" cy="808724"/>
          </a:xfrm>
          <a:prstGeom prst="rect">
            <a:avLst/>
          </a:prstGeom>
        </p:spPr>
      </p:pic>
      <p:pic>
        <p:nvPicPr>
          <p:cNvPr id="1052" name="Picture 1051" descr="A satellite in space above earth&#10;&#10;AI-generated content may be incorrect.">
            <a:extLst>
              <a:ext uri="{FF2B5EF4-FFF2-40B4-BE49-F238E27FC236}">
                <a16:creationId xmlns:a16="http://schemas.microsoft.com/office/drawing/2014/main" id="{4BB65946-7CAA-DBF3-4226-1C84E6DAEF7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92444" y="4390008"/>
            <a:ext cx="1185521" cy="730293"/>
          </a:xfrm>
          <a:prstGeom prst="rect">
            <a:avLst/>
          </a:prstGeom>
        </p:spPr>
      </p:pic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68A06BF2-E3CC-44CC-55C3-E320E74CD7E4}"/>
              </a:ext>
            </a:extLst>
          </p:cNvPr>
          <p:cNvCxnSpPr>
            <a:cxnSpLocks/>
          </p:cNvCxnSpPr>
          <p:nvPr/>
        </p:nvCxnSpPr>
        <p:spPr>
          <a:xfrm>
            <a:off x="9836355" y="3442787"/>
            <a:ext cx="0" cy="3224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63" name="Picture 4" descr="Save time - Free business and finance icons">
            <a:extLst>
              <a:ext uri="{FF2B5EF4-FFF2-40B4-BE49-F238E27FC236}">
                <a16:creationId xmlns:a16="http://schemas.microsoft.com/office/drawing/2014/main" id="{CA217E17-1897-CF75-19F9-3F0C08A1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928" y="3830479"/>
            <a:ext cx="418576" cy="38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7" name="Group 3">
            <a:extLst>
              <a:ext uri="{FF2B5EF4-FFF2-40B4-BE49-F238E27FC236}">
                <a16:creationId xmlns:a16="http://schemas.microsoft.com/office/drawing/2014/main" id="{B98B12CF-3330-A22F-C2C0-881225B57FFA}"/>
              </a:ext>
            </a:extLst>
          </p:cNvPr>
          <p:cNvGrpSpPr/>
          <p:nvPr/>
        </p:nvGrpSpPr>
        <p:grpSpPr>
          <a:xfrm>
            <a:off x="9204162" y="1254526"/>
            <a:ext cx="422015" cy="232289"/>
            <a:chOff x="0" y="0"/>
            <a:chExt cx="187178" cy="126931"/>
          </a:xfrm>
        </p:grpSpPr>
        <p:sp>
          <p:nvSpPr>
            <p:cNvPr id="1068" name="Freeform 4">
              <a:extLst>
                <a:ext uri="{FF2B5EF4-FFF2-40B4-BE49-F238E27FC236}">
                  <a16:creationId xmlns:a16="http://schemas.microsoft.com/office/drawing/2014/main" id="{B1AB741F-97EC-0474-D785-F3CF13CEC54C}"/>
                </a:ext>
              </a:extLst>
            </p:cNvPr>
            <p:cNvSpPr/>
            <p:nvPr/>
          </p:nvSpPr>
          <p:spPr>
            <a:xfrm>
              <a:off x="0" y="0"/>
              <a:ext cx="187178" cy="126931"/>
            </a:xfrm>
            <a:custGeom>
              <a:avLst/>
              <a:gdLst/>
              <a:ahLst/>
              <a:cxnLst/>
              <a:rect l="l" t="t" r="r" b="b"/>
              <a:pathLst>
                <a:path w="187178" h="126931">
                  <a:moveTo>
                    <a:pt x="0" y="0"/>
                  </a:moveTo>
                  <a:lnTo>
                    <a:pt x="187178" y="0"/>
                  </a:lnTo>
                  <a:lnTo>
                    <a:pt x="187178" y="126931"/>
                  </a:lnTo>
                  <a:lnTo>
                    <a:pt x="0" y="126931"/>
                  </a:lnTo>
                  <a:close/>
                </a:path>
              </a:pathLst>
            </a:custGeom>
            <a:solidFill>
              <a:srgbClr val="85D78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69" name="TextBox 5">
              <a:extLst>
                <a:ext uri="{FF2B5EF4-FFF2-40B4-BE49-F238E27FC236}">
                  <a16:creationId xmlns:a16="http://schemas.microsoft.com/office/drawing/2014/main" id="{15919FF7-35E6-FC0F-1118-D4117AA51B12}"/>
                </a:ext>
              </a:extLst>
            </p:cNvPr>
            <p:cNvSpPr txBox="1"/>
            <p:nvPr/>
          </p:nvSpPr>
          <p:spPr>
            <a:xfrm>
              <a:off x="0" y="-38100"/>
              <a:ext cx="187178" cy="165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70" name="Group 6">
            <a:extLst>
              <a:ext uri="{FF2B5EF4-FFF2-40B4-BE49-F238E27FC236}">
                <a16:creationId xmlns:a16="http://schemas.microsoft.com/office/drawing/2014/main" id="{D89948A6-667D-81BE-3BCE-F3A4F5363C24}"/>
              </a:ext>
            </a:extLst>
          </p:cNvPr>
          <p:cNvGrpSpPr/>
          <p:nvPr/>
        </p:nvGrpSpPr>
        <p:grpSpPr>
          <a:xfrm>
            <a:off x="9222693" y="1705135"/>
            <a:ext cx="404773" cy="188686"/>
            <a:chOff x="0" y="0"/>
            <a:chExt cx="187178" cy="126931"/>
          </a:xfrm>
        </p:grpSpPr>
        <p:sp>
          <p:nvSpPr>
            <p:cNvPr id="1071" name="Freeform 7">
              <a:extLst>
                <a:ext uri="{FF2B5EF4-FFF2-40B4-BE49-F238E27FC236}">
                  <a16:creationId xmlns:a16="http://schemas.microsoft.com/office/drawing/2014/main" id="{745A6BD9-9D19-5F61-B7F3-72116DD2E6CE}"/>
                </a:ext>
              </a:extLst>
            </p:cNvPr>
            <p:cNvSpPr/>
            <p:nvPr/>
          </p:nvSpPr>
          <p:spPr>
            <a:xfrm>
              <a:off x="0" y="0"/>
              <a:ext cx="187178" cy="126931"/>
            </a:xfrm>
            <a:custGeom>
              <a:avLst/>
              <a:gdLst/>
              <a:ahLst/>
              <a:cxnLst/>
              <a:rect l="l" t="t" r="r" b="b"/>
              <a:pathLst>
                <a:path w="187178" h="126931">
                  <a:moveTo>
                    <a:pt x="0" y="0"/>
                  </a:moveTo>
                  <a:lnTo>
                    <a:pt x="187178" y="0"/>
                  </a:lnTo>
                  <a:lnTo>
                    <a:pt x="187178" y="126931"/>
                  </a:lnTo>
                  <a:lnTo>
                    <a:pt x="0" y="126931"/>
                  </a:lnTo>
                  <a:close/>
                </a:path>
              </a:pathLst>
            </a:custGeom>
            <a:solidFill>
              <a:srgbClr val="73AAD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72" name="TextBox 8">
              <a:extLst>
                <a:ext uri="{FF2B5EF4-FFF2-40B4-BE49-F238E27FC236}">
                  <a16:creationId xmlns:a16="http://schemas.microsoft.com/office/drawing/2014/main" id="{FD1CF036-551B-8528-AA64-EE1E3CA3A73D}"/>
                </a:ext>
              </a:extLst>
            </p:cNvPr>
            <p:cNvSpPr txBox="1"/>
            <p:nvPr/>
          </p:nvSpPr>
          <p:spPr>
            <a:xfrm>
              <a:off x="0" y="-38100"/>
              <a:ext cx="187178" cy="165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73" name="Group 9">
            <a:extLst>
              <a:ext uri="{FF2B5EF4-FFF2-40B4-BE49-F238E27FC236}">
                <a16:creationId xmlns:a16="http://schemas.microsoft.com/office/drawing/2014/main" id="{BA707579-8757-4E6B-81C8-028F1A1ED423}"/>
              </a:ext>
            </a:extLst>
          </p:cNvPr>
          <p:cNvGrpSpPr/>
          <p:nvPr/>
        </p:nvGrpSpPr>
        <p:grpSpPr>
          <a:xfrm>
            <a:off x="9229471" y="2136604"/>
            <a:ext cx="402825" cy="225721"/>
            <a:chOff x="0" y="0"/>
            <a:chExt cx="187178" cy="126931"/>
          </a:xfrm>
        </p:grpSpPr>
        <p:sp>
          <p:nvSpPr>
            <p:cNvPr id="1074" name="Freeform 10">
              <a:extLst>
                <a:ext uri="{FF2B5EF4-FFF2-40B4-BE49-F238E27FC236}">
                  <a16:creationId xmlns:a16="http://schemas.microsoft.com/office/drawing/2014/main" id="{0163AEFC-3ED0-7BA7-050A-1E4494401CFD}"/>
                </a:ext>
              </a:extLst>
            </p:cNvPr>
            <p:cNvSpPr/>
            <p:nvPr/>
          </p:nvSpPr>
          <p:spPr>
            <a:xfrm>
              <a:off x="0" y="0"/>
              <a:ext cx="187178" cy="126931"/>
            </a:xfrm>
            <a:custGeom>
              <a:avLst/>
              <a:gdLst/>
              <a:ahLst/>
              <a:cxnLst/>
              <a:rect l="l" t="t" r="r" b="b"/>
              <a:pathLst>
                <a:path w="187178" h="126931">
                  <a:moveTo>
                    <a:pt x="0" y="0"/>
                  </a:moveTo>
                  <a:lnTo>
                    <a:pt x="187178" y="0"/>
                  </a:lnTo>
                  <a:lnTo>
                    <a:pt x="187178" y="126931"/>
                  </a:lnTo>
                  <a:lnTo>
                    <a:pt x="0" y="126931"/>
                  </a:lnTo>
                  <a:close/>
                </a:path>
              </a:pathLst>
            </a:custGeom>
            <a:solidFill>
              <a:srgbClr val="E9E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75" name="TextBox 11">
              <a:extLst>
                <a:ext uri="{FF2B5EF4-FFF2-40B4-BE49-F238E27FC236}">
                  <a16:creationId xmlns:a16="http://schemas.microsoft.com/office/drawing/2014/main" id="{8AAD8B51-328F-9182-C46F-9418CD3F7AAF}"/>
                </a:ext>
              </a:extLst>
            </p:cNvPr>
            <p:cNvSpPr txBox="1"/>
            <p:nvPr/>
          </p:nvSpPr>
          <p:spPr>
            <a:xfrm>
              <a:off x="0" y="-38100"/>
              <a:ext cx="187178" cy="165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76" name="Group 12">
            <a:extLst>
              <a:ext uri="{FF2B5EF4-FFF2-40B4-BE49-F238E27FC236}">
                <a16:creationId xmlns:a16="http://schemas.microsoft.com/office/drawing/2014/main" id="{23533654-0C88-4476-D985-772447124BE1}"/>
              </a:ext>
            </a:extLst>
          </p:cNvPr>
          <p:cNvGrpSpPr/>
          <p:nvPr/>
        </p:nvGrpSpPr>
        <p:grpSpPr>
          <a:xfrm>
            <a:off x="9224641" y="2632920"/>
            <a:ext cx="402825" cy="178387"/>
            <a:chOff x="0" y="0"/>
            <a:chExt cx="187178" cy="126931"/>
          </a:xfrm>
        </p:grpSpPr>
        <p:sp>
          <p:nvSpPr>
            <p:cNvPr id="1077" name="Freeform 13">
              <a:extLst>
                <a:ext uri="{FF2B5EF4-FFF2-40B4-BE49-F238E27FC236}">
                  <a16:creationId xmlns:a16="http://schemas.microsoft.com/office/drawing/2014/main" id="{76992C3F-7F7A-5F53-AC8B-BE2DEDD0601D}"/>
                </a:ext>
              </a:extLst>
            </p:cNvPr>
            <p:cNvSpPr/>
            <p:nvPr/>
          </p:nvSpPr>
          <p:spPr>
            <a:xfrm>
              <a:off x="0" y="0"/>
              <a:ext cx="187178" cy="126931"/>
            </a:xfrm>
            <a:custGeom>
              <a:avLst/>
              <a:gdLst/>
              <a:ahLst/>
              <a:cxnLst/>
              <a:rect l="l" t="t" r="r" b="b"/>
              <a:pathLst>
                <a:path w="187178" h="126931">
                  <a:moveTo>
                    <a:pt x="0" y="0"/>
                  </a:moveTo>
                  <a:lnTo>
                    <a:pt x="187178" y="0"/>
                  </a:lnTo>
                  <a:lnTo>
                    <a:pt x="187178" y="126931"/>
                  </a:lnTo>
                  <a:lnTo>
                    <a:pt x="0" y="126931"/>
                  </a:lnTo>
                  <a:close/>
                </a:path>
              </a:pathLst>
            </a:custGeom>
            <a:solidFill>
              <a:srgbClr val="C0B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78" name="TextBox 14">
              <a:extLst>
                <a:ext uri="{FF2B5EF4-FFF2-40B4-BE49-F238E27FC236}">
                  <a16:creationId xmlns:a16="http://schemas.microsoft.com/office/drawing/2014/main" id="{74CDB2E5-6255-7AE0-F057-F8901A715BB4}"/>
                </a:ext>
              </a:extLst>
            </p:cNvPr>
            <p:cNvSpPr txBox="1"/>
            <p:nvPr/>
          </p:nvSpPr>
          <p:spPr>
            <a:xfrm>
              <a:off x="0" y="-38100"/>
              <a:ext cx="187178" cy="165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79" name="TextBox 1078">
            <a:extLst>
              <a:ext uri="{FF2B5EF4-FFF2-40B4-BE49-F238E27FC236}">
                <a16:creationId xmlns:a16="http://schemas.microsoft.com/office/drawing/2014/main" id="{3CD7DCB4-2DEE-A73C-7E47-7C2E78998535}"/>
              </a:ext>
            </a:extLst>
          </p:cNvPr>
          <p:cNvSpPr txBox="1"/>
          <p:nvPr/>
        </p:nvSpPr>
        <p:spPr>
          <a:xfrm>
            <a:off x="9663578" y="2567266"/>
            <a:ext cx="3494410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 &amp; Resource Savings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5742067F-0B06-29CA-0C54-6B5B32247ACE}"/>
              </a:ext>
            </a:extLst>
          </p:cNvPr>
          <p:cNvSpPr txBox="1"/>
          <p:nvPr/>
        </p:nvSpPr>
        <p:spPr>
          <a:xfrm>
            <a:off x="9651486" y="2078090"/>
            <a:ext cx="3009061" cy="344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Governance &amp; Transparency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48A7C61A-590C-D4DF-33AE-115DC648E417}"/>
              </a:ext>
            </a:extLst>
          </p:cNvPr>
          <p:cNvSpPr txBox="1"/>
          <p:nvPr/>
        </p:nvSpPr>
        <p:spPr>
          <a:xfrm>
            <a:off x="9602984" y="1622551"/>
            <a:ext cx="2905163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Financial Loss Prevention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37426BBB-1C19-1F33-3773-8CCB493EEF6A}"/>
              </a:ext>
            </a:extLst>
          </p:cNvPr>
          <p:cNvSpPr txBox="1"/>
          <p:nvPr/>
        </p:nvSpPr>
        <p:spPr>
          <a:xfrm>
            <a:off x="9651486" y="1174692"/>
            <a:ext cx="2781358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Protection</a:t>
            </a:r>
          </a:p>
        </p:txBody>
      </p:sp>
      <p:sp>
        <p:nvSpPr>
          <p:cNvPr id="17408" name="Arrow: Pentagon 17407">
            <a:extLst>
              <a:ext uri="{FF2B5EF4-FFF2-40B4-BE49-F238E27FC236}">
                <a16:creationId xmlns:a16="http://schemas.microsoft.com/office/drawing/2014/main" id="{8A3061FB-408B-C5E9-9F4D-63AB0AF4C633}"/>
              </a:ext>
            </a:extLst>
          </p:cNvPr>
          <p:cNvSpPr/>
          <p:nvPr/>
        </p:nvSpPr>
        <p:spPr>
          <a:xfrm>
            <a:off x="8349568" y="4420185"/>
            <a:ext cx="2973574" cy="526671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711200">
              <a:lnSpc>
                <a:spcPct val="90000"/>
              </a:lnSpc>
              <a:spcAft>
                <a:spcPct val="35000"/>
              </a:spcAft>
            </a:pPr>
            <a:r>
              <a:rPr lang="en-US" sz="1400" b="1">
                <a:solidFill>
                  <a:schemeClr val="tx1"/>
                </a:solidFill>
              </a:rPr>
              <a:t>Give accurate result : </a:t>
            </a:r>
            <a:r>
              <a:rPr lang="en-US" sz="1400">
                <a:solidFill>
                  <a:schemeClr val="tx1"/>
                </a:solidFill>
              </a:rPr>
              <a:t>AI improve with AI every scan </a:t>
            </a:r>
          </a:p>
        </p:txBody>
      </p:sp>
      <p:sp>
        <p:nvSpPr>
          <p:cNvPr id="17410" name="Arrow: Pentagon 17409">
            <a:extLst>
              <a:ext uri="{FF2B5EF4-FFF2-40B4-BE49-F238E27FC236}">
                <a16:creationId xmlns:a16="http://schemas.microsoft.com/office/drawing/2014/main" id="{1CC548C3-06DF-E83F-58CD-B4AA45C26EA6}"/>
              </a:ext>
            </a:extLst>
          </p:cNvPr>
          <p:cNvSpPr/>
          <p:nvPr/>
        </p:nvSpPr>
        <p:spPr>
          <a:xfrm>
            <a:off x="8333642" y="5077801"/>
            <a:ext cx="2973574" cy="526671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400" b="1">
                <a:solidFill>
                  <a:schemeClr val="tx1"/>
                </a:solidFill>
              </a:rPr>
              <a:t>Easy to use : </a:t>
            </a:r>
            <a:r>
              <a:rPr lang="en-US" sz="1400">
                <a:solidFill>
                  <a:schemeClr val="tx1"/>
                </a:solidFill>
              </a:rPr>
              <a:t>Simple dashboard and 3D Maps</a:t>
            </a:r>
            <a:endParaRPr lang="en-IN" sz="1400"/>
          </a:p>
        </p:txBody>
      </p:sp>
      <p:sp>
        <p:nvSpPr>
          <p:cNvPr id="17411" name="Arrow: Pentagon 17410">
            <a:extLst>
              <a:ext uri="{FF2B5EF4-FFF2-40B4-BE49-F238E27FC236}">
                <a16:creationId xmlns:a16="http://schemas.microsoft.com/office/drawing/2014/main" id="{4392BC7C-4DC6-43C8-C431-542E56FD4DD9}"/>
              </a:ext>
            </a:extLst>
          </p:cNvPr>
          <p:cNvSpPr/>
          <p:nvPr/>
        </p:nvSpPr>
        <p:spPr>
          <a:xfrm>
            <a:off x="8316583" y="5794656"/>
            <a:ext cx="2973574" cy="526671"/>
          </a:xfrm>
          <a:prstGeom prst="homePlat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400" b="1">
                <a:solidFill>
                  <a:schemeClr val="tx1"/>
                </a:solidFill>
              </a:rPr>
              <a:t>Support legal action</a:t>
            </a:r>
            <a:r>
              <a:rPr lang="en-US" sz="1400">
                <a:solidFill>
                  <a:schemeClr val="tx1"/>
                </a:solidFill>
              </a:rPr>
              <a:t>
Provides proof for authorities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17412" name="Oval 17411">
            <a:extLst>
              <a:ext uri="{FF2B5EF4-FFF2-40B4-BE49-F238E27FC236}">
                <a16:creationId xmlns:a16="http://schemas.microsoft.com/office/drawing/2014/main" id="{791C55F3-6C43-8D42-C395-7C138C1C3EF5}"/>
              </a:ext>
            </a:extLst>
          </p:cNvPr>
          <p:cNvSpPr/>
          <p:nvPr/>
        </p:nvSpPr>
        <p:spPr>
          <a:xfrm>
            <a:off x="11039140" y="4430026"/>
            <a:ext cx="536152" cy="542323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3" name="Oval 17412">
            <a:extLst>
              <a:ext uri="{FF2B5EF4-FFF2-40B4-BE49-F238E27FC236}">
                <a16:creationId xmlns:a16="http://schemas.microsoft.com/office/drawing/2014/main" id="{94C9A401-D100-C923-4167-4EBDFB20B370}"/>
              </a:ext>
            </a:extLst>
          </p:cNvPr>
          <p:cNvSpPr/>
          <p:nvPr/>
        </p:nvSpPr>
        <p:spPr>
          <a:xfrm>
            <a:off x="11055066" y="5083311"/>
            <a:ext cx="536152" cy="542323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4" name="Oval 17413">
            <a:extLst>
              <a:ext uri="{FF2B5EF4-FFF2-40B4-BE49-F238E27FC236}">
                <a16:creationId xmlns:a16="http://schemas.microsoft.com/office/drawing/2014/main" id="{39B3DCDF-EDEB-EA97-A05A-BF5573756110}"/>
              </a:ext>
            </a:extLst>
          </p:cNvPr>
          <p:cNvSpPr/>
          <p:nvPr/>
        </p:nvSpPr>
        <p:spPr>
          <a:xfrm>
            <a:off x="11055066" y="5792131"/>
            <a:ext cx="536152" cy="542323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415" name="Picture 6" descr="Accuracy - Free business and finance icons">
            <a:extLst>
              <a:ext uri="{FF2B5EF4-FFF2-40B4-BE49-F238E27FC236}">
                <a16:creationId xmlns:a16="http://schemas.microsoft.com/office/drawing/2014/main" id="{1D7E001E-A307-0A0C-F5D4-DE6BD5C57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50" y="4532122"/>
            <a:ext cx="388183" cy="38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 descr="Easy to use - Free hands and gestures icons">
            <a:extLst>
              <a:ext uri="{FF2B5EF4-FFF2-40B4-BE49-F238E27FC236}">
                <a16:creationId xmlns:a16="http://schemas.microsoft.com/office/drawing/2014/main" id="{A0BF0B77-498D-2A62-25D6-1C70F5499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518" y="5155616"/>
            <a:ext cx="397245" cy="39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7" name="Picture 10" descr="Legal Action Icons - Free SVG &amp; PNG Legal Action Images - Noun Project">
            <a:extLst>
              <a:ext uri="{FF2B5EF4-FFF2-40B4-BE49-F238E27FC236}">
                <a16:creationId xmlns:a16="http://schemas.microsoft.com/office/drawing/2014/main" id="{CC8E21F6-D3A4-AF0F-04ED-A7D7085B1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259" y="5833648"/>
            <a:ext cx="450196" cy="47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60B123-9A5C-96F8-02F9-A6BF99BF0239}"/>
              </a:ext>
            </a:extLst>
          </p:cNvPr>
          <p:cNvSpPr/>
          <p:nvPr/>
        </p:nvSpPr>
        <p:spPr>
          <a:xfrm>
            <a:off x="3268815" y="3083985"/>
            <a:ext cx="851280" cy="3182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USP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5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Planet Watch AI </a:t>
            </a:r>
            <a:endParaRPr lang="en-IN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843EF-7882-423D-6F34-4BB3CA7070D3}"/>
              </a:ext>
            </a:extLst>
          </p:cNvPr>
          <p:cNvSpPr txBox="1"/>
          <p:nvPr/>
        </p:nvSpPr>
        <p:spPr>
          <a:xfrm>
            <a:off x="29497" y="1179965"/>
            <a:ext cx="96651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Project Prototype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hlinkClick r:id="rId4"/>
              </a:rPr>
              <a:t> https://sarveshgajakosh23-d.github.io/PLANET-WATCH---AI/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“Monitoring Mining Activities Using Sentinel-1A InSAR Coherence,” Remote Sensing (MDPI, 2021). </a:t>
            </a:r>
          </a:p>
          <a:p>
            <a:r>
              <a:rPr lang="en-IN" dirty="0"/>
              <a:t>🔗 </a:t>
            </a:r>
            <a:r>
              <a:rPr lang="en-IN" dirty="0">
                <a:hlinkClick r:id="rId5"/>
              </a:rPr>
              <a:t>https://www.mdpi.com/2072-4292/13/21/4485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“Mining and Tailings Dam Detection Using Deep Learning,” </a:t>
            </a:r>
          </a:p>
          <a:p>
            <a:r>
              <a:rPr lang="en-IN" dirty="0"/>
              <a:t>🔗 </a:t>
            </a:r>
            <a:r>
              <a:rPr lang="en-IN" dirty="0">
                <a:hlinkClick r:id="rId6"/>
              </a:rPr>
              <a:t>https://www.mdpi.com/1424-8220/20/23/6936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“Remote Sensing for Monitoring Mine Lands and Recovery Efforts.”</a:t>
            </a:r>
          </a:p>
          <a:p>
            <a:r>
              <a:rPr lang="en-IN" dirty="0"/>
              <a:t>🔗 </a:t>
            </a:r>
            <a:r>
              <a:rPr lang="en-IN" dirty="0">
                <a:hlinkClick r:id="rId7"/>
              </a:rPr>
              <a:t>https://pubs.usgs.gov/publication/cir1525/full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“Global Mining Footprint Mapped from High-Resolution Satellite Imagery.” </a:t>
            </a:r>
          </a:p>
          <a:p>
            <a:r>
              <a:rPr lang="en-IN" dirty="0"/>
              <a:t>🔗 </a:t>
            </a:r>
            <a:r>
              <a:rPr lang="en-IN" dirty="0">
                <a:hlinkClick r:id="rId8"/>
              </a:rPr>
              <a:t>https://www.nature.com/articles/s43247-023-00805-6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Google Earth Engine Dataset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r>
              <a:rPr lang="en-IN" dirty="0"/>
              <a:t>🔗</a:t>
            </a:r>
            <a:r>
              <a:rPr lang="en-IN" dirty="0">
                <a:hlinkClick r:id="rId9"/>
              </a:rPr>
              <a:t>https://developers.google.com/earth-engine/datasets</a:t>
            </a:r>
            <a:endParaRPr lang="en-IN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2D617A-7500-53E0-F04E-446A4E8726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7522"/>
          <a:stretch>
            <a:fillRect/>
          </a:stretch>
        </p:blipFill>
        <p:spPr>
          <a:xfrm>
            <a:off x="4387602" y="4559768"/>
            <a:ext cx="2490451" cy="1726733"/>
          </a:xfrm>
          <a:prstGeom prst="rect">
            <a:avLst/>
          </a:prstGeom>
        </p:spPr>
      </p:pic>
      <p:pic>
        <p:nvPicPr>
          <p:cNvPr id="8" name="Picture 7" descr="A collage of maps of the earth&#10;&#10;AI-generated content may be incorrect.">
            <a:extLst>
              <a:ext uri="{FF2B5EF4-FFF2-40B4-BE49-F238E27FC236}">
                <a16:creationId xmlns:a16="http://schemas.microsoft.com/office/drawing/2014/main" id="{8F2E972E-D9FF-B9D8-4B93-CC58EB18CE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7262" y="4387547"/>
            <a:ext cx="2714475" cy="1898954"/>
          </a:xfrm>
          <a:prstGeom prst="rect">
            <a:avLst/>
          </a:prstGeom>
        </p:spPr>
      </p:pic>
      <p:pic>
        <p:nvPicPr>
          <p:cNvPr id="15" name="Picture 14" descr="An aerial view of a hole in the ground&#10;&#10;AI-generated content may be incorrect.">
            <a:extLst>
              <a:ext uri="{FF2B5EF4-FFF2-40B4-BE49-F238E27FC236}">
                <a16:creationId xmlns:a16="http://schemas.microsoft.com/office/drawing/2014/main" id="{256689CE-7725-BF1A-463E-B5BFEE630C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3573" y="4417610"/>
            <a:ext cx="2308169" cy="190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185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Canva Sans</vt:lpstr>
      <vt:lpstr>Canva Sans Bold</vt:lpstr>
      <vt:lpstr>Garamond</vt:lpstr>
      <vt:lpstr>Times New Roman</vt:lpstr>
      <vt:lpstr>TradeGothic</vt:lpstr>
      <vt:lpstr>Wingdings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potdaranushka24@hotmail.com</cp:lastModifiedBy>
  <cp:revision>2</cp:revision>
  <dcterms:created xsi:type="dcterms:W3CDTF">2013-12-12T18:46:50Z</dcterms:created>
  <dcterms:modified xsi:type="dcterms:W3CDTF">2025-10-15T11:14:02Z</dcterms:modified>
  <cp:category/>
</cp:coreProperties>
</file>